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notesMasterIdLst>
    <p:notesMasterId r:id="rId17"/>
  </p:notesMasterIdLst>
  <p:sldIdLst>
    <p:sldId id="256" r:id="rId2"/>
    <p:sldId id="833" r:id="rId3"/>
    <p:sldId id="848" r:id="rId4"/>
    <p:sldId id="272" r:id="rId5"/>
    <p:sldId id="843" r:id="rId6"/>
    <p:sldId id="276" r:id="rId7"/>
    <p:sldId id="277" r:id="rId8"/>
    <p:sldId id="278" r:id="rId9"/>
    <p:sldId id="285" r:id="rId10"/>
    <p:sldId id="287" r:id="rId11"/>
    <p:sldId id="849" r:id="rId12"/>
    <p:sldId id="312" r:id="rId13"/>
    <p:sldId id="830" r:id="rId14"/>
    <p:sldId id="334" r:id="rId15"/>
    <p:sldId id="338" r:id="rId16"/>
  </p:sldIdLst>
  <p:sldSz cx="9144000" cy="6858000" type="screen4x3"/>
  <p:notesSz cx="6858000" cy="9144000"/>
  <p:defaultTextStyle>
    <a:defPPr>
      <a:defRPr lang="cs-CZ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00E6"/>
    <a:srgbClr val="B9B9FF"/>
    <a:srgbClr val="9999FF"/>
    <a:srgbClr val="239D7A"/>
    <a:srgbClr val="22C093"/>
    <a:srgbClr val="FF9900"/>
    <a:srgbClr val="993300"/>
    <a:srgbClr val="00CC00"/>
    <a:srgbClr val="FF33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 s motivem 1 – zvýraznění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Styl s motivem 1 – zvýraznění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27102A9-8310-4765-A935-A1911B00CA55}" styleName="Světlý styl 1 – zvýraznění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20" autoAdjust="0"/>
    <p:restoredTop sz="94646" autoAdjust="0"/>
  </p:normalViewPr>
  <p:slideViewPr>
    <p:cSldViewPr>
      <p:cViewPr varScale="1">
        <p:scale>
          <a:sx n="82" d="100"/>
          <a:sy n="82" d="100"/>
        </p:scale>
        <p:origin x="89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356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31230F7F-A5FC-4767-931F-5BA9A74823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5E39EFBE-5851-4BE1-9AA0-06A02E499A8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84C12A8-EAC8-4A9E-8D04-F2D35E1C500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3" name="Rectangle 5">
            <a:extLst>
              <a:ext uri="{FF2B5EF4-FFF2-40B4-BE49-F238E27FC236}">
                <a16:creationId xmlns:a16="http://schemas.microsoft.com/office/drawing/2014/main" id="{66113686-8DB3-4C05-B6DB-569A58E961B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114694" name="Rectangle 6">
            <a:extLst>
              <a:ext uri="{FF2B5EF4-FFF2-40B4-BE49-F238E27FC236}">
                <a16:creationId xmlns:a16="http://schemas.microsoft.com/office/drawing/2014/main" id="{A44CF7C8-B8AE-4B04-B313-F229E03684E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114695" name="Rectangle 7">
            <a:extLst>
              <a:ext uri="{FF2B5EF4-FFF2-40B4-BE49-F238E27FC236}">
                <a16:creationId xmlns:a16="http://schemas.microsoft.com/office/drawing/2014/main" id="{7B9ADD9B-2A32-402C-B925-F85CA6A126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08B9CEE-B1C6-4026-8C78-BB3930BF8DBC}" type="slidenum">
              <a:rPr lang="cs-CZ" altLang="cs-CZ"/>
              <a:pPr>
                <a:defRPr/>
              </a:pPr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>
            <a:extLst>
              <a:ext uri="{FF2B5EF4-FFF2-40B4-BE49-F238E27FC236}">
                <a16:creationId xmlns:a16="http://schemas.microsoft.com/office/drawing/2014/main" id="{CEFC0A1B-B43A-4247-87E8-E253764BD5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5" name="Group 8">
            <a:extLst>
              <a:ext uri="{FF2B5EF4-FFF2-40B4-BE49-F238E27FC236}">
                <a16:creationId xmlns:a16="http://schemas.microsoft.com/office/drawing/2014/main" id="{1D99129C-360F-405D-AC8C-133F248CCBD1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>
              <a:extLst>
                <a:ext uri="{FF2B5EF4-FFF2-40B4-BE49-F238E27FC236}">
                  <a16:creationId xmlns:a16="http://schemas.microsoft.com/office/drawing/2014/main" id="{D5A88C12-518D-4515-9E07-D821322B5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7" name="Oval 10">
              <a:extLst>
                <a:ext uri="{FF2B5EF4-FFF2-40B4-BE49-F238E27FC236}">
                  <a16:creationId xmlns:a16="http://schemas.microsoft.com/office/drawing/2014/main" id="{A90E5BD9-A1CA-44D6-B9E8-BA5BE17C4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8" name="Oval 11">
              <a:extLst>
                <a:ext uri="{FF2B5EF4-FFF2-40B4-BE49-F238E27FC236}">
                  <a16:creationId xmlns:a16="http://schemas.microsoft.com/office/drawing/2014/main" id="{B2643E92-9431-45AE-ACD0-F22CA0059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9" name="Oval 12">
              <a:extLst>
                <a:ext uri="{FF2B5EF4-FFF2-40B4-BE49-F238E27FC236}">
                  <a16:creationId xmlns:a16="http://schemas.microsoft.com/office/drawing/2014/main" id="{0FC822C3-E10E-450B-998F-62F215821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" name="Oval 13">
              <a:extLst>
                <a:ext uri="{FF2B5EF4-FFF2-40B4-BE49-F238E27FC236}">
                  <a16:creationId xmlns:a16="http://schemas.microsoft.com/office/drawing/2014/main" id="{A7339071-D572-4D84-BD4A-35145A10EE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1" name="Oval 14">
              <a:extLst>
                <a:ext uri="{FF2B5EF4-FFF2-40B4-BE49-F238E27FC236}">
                  <a16:creationId xmlns:a16="http://schemas.microsoft.com/office/drawing/2014/main" id="{45A10CB5-4F0A-4A6E-9766-0C3F06D2A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2" name="Oval 15">
              <a:extLst>
                <a:ext uri="{FF2B5EF4-FFF2-40B4-BE49-F238E27FC236}">
                  <a16:creationId xmlns:a16="http://schemas.microsoft.com/office/drawing/2014/main" id="{B5895707-C67B-4D81-99B5-1A03BA1B5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3" name="Oval 16">
              <a:extLst>
                <a:ext uri="{FF2B5EF4-FFF2-40B4-BE49-F238E27FC236}">
                  <a16:creationId xmlns:a16="http://schemas.microsoft.com/office/drawing/2014/main" id="{8578FC0F-E3AA-4902-948C-572CB6630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4" name="Oval 17">
              <a:extLst>
                <a:ext uri="{FF2B5EF4-FFF2-40B4-BE49-F238E27FC236}">
                  <a16:creationId xmlns:a16="http://schemas.microsoft.com/office/drawing/2014/main" id="{075930D1-CAA8-4BCD-8DC4-3675748FE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5" name="Oval 18">
              <a:extLst>
                <a:ext uri="{FF2B5EF4-FFF2-40B4-BE49-F238E27FC236}">
                  <a16:creationId xmlns:a16="http://schemas.microsoft.com/office/drawing/2014/main" id="{EE9364A9-6E03-42D1-8970-A2E6E8913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6" name="Oval 19">
              <a:extLst>
                <a:ext uri="{FF2B5EF4-FFF2-40B4-BE49-F238E27FC236}">
                  <a16:creationId xmlns:a16="http://schemas.microsoft.com/office/drawing/2014/main" id="{880C26F2-C69B-46BF-832A-60ED504F6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7" name="Oval 20">
              <a:extLst>
                <a:ext uri="{FF2B5EF4-FFF2-40B4-BE49-F238E27FC236}">
                  <a16:creationId xmlns:a16="http://schemas.microsoft.com/office/drawing/2014/main" id="{D63A00BD-EBB3-4CEA-AC77-48E2084A78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1542C567-5ABF-4CA2-A6C5-C6EBE57E4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9" name="Oval 22">
              <a:extLst>
                <a:ext uri="{FF2B5EF4-FFF2-40B4-BE49-F238E27FC236}">
                  <a16:creationId xmlns:a16="http://schemas.microsoft.com/office/drawing/2014/main" id="{E07A62B9-ED69-4112-888B-296D49F1E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0" name="Oval 23">
              <a:extLst>
                <a:ext uri="{FF2B5EF4-FFF2-40B4-BE49-F238E27FC236}">
                  <a16:creationId xmlns:a16="http://schemas.microsoft.com/office/drawing/2014/main" id="{E5495418-0C1E-4B35-8BC0-BF69227F0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1" name="Oval 24">
              <a:extLst>
                <a:ext uri="{FF2B5EF4-FFF2-40B4-BE49-F238E27FC236}">
                  <a16:creationId xmlns:a16="http://schemas.microsoft.com/office/drawing/2014/main" id="{8BC10303-49EA-4D66-87FF-29FCF3A2E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2" name="Oval 25">
              <a:extLst>
                <a:ext uri="{FF2B5EF4-FFF2-40B4-BE49-F238E27FC236}">
                  <a16:creationId xmlns:a16="http://schemas.microsoft.com/office/drawing/2014/main" id="{55F40CE5-784F-4246-8B32-2BF1937DA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3" name="Oval 26">
              <a:extLst>
                <a:ext uri="{FF2B5EF4-FFF2-40B4-BE49-F238E27FC236}">
                  <a16:creationId xmlns:a16="http://schemas.microsoft.com/office/drawing/2014/main" id="{75E12F43-823A-4AD3-A7A1-26CDD7179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4" name="Oval 27">
              <a:extLst>
                <a:ext uri="{FF2B5EF4-FFF2-40B4-BE49-F238E27FC236}">
                  <a16:creationId xmlns:a16="http://schemas.microsoft.com/office/drawing/2014/main" id="{97822B61-0882-4BD0-9DFF-7E9462E62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5" name="Oval 28">
              <a:extLst>
                <a:ext uri="{FF2B5EF4-FFF2-40B4-BE49-F238E27FC236}">
                  <a16:creationId xmlns:a16="http://schemas.microsoft.com/office/drawing/2014/main" id="{8DD0E9C4-22C6-4721-B6BF-7F797D836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6" name="Oval 29">
              <a:extLst>
                <a:ext uri="{FF2B5EF4-FFF2-40B4-BE49-F238E27FC236}">
                  <a16:creationId xmlns:a16="http://schemas.microsoft.com/office/drawing/2014/main" id="{26CBB585-1503-4DFA-808B-C6744658F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7" name="Oval 30">
              <a:extLst>
                <a:ext uri="{FF2B5EF4-FFF2-40B4-BE49-F238E27FC236}">
                  <a16:creationId xmlns:a16="http://schemas.microsoft.com/office/drawing/2014/main" id="{DA10224B-4449-46C4-9C24-1135A56BE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8" name="Oval 31">
              <a:extLst>
                <a:ext uri="{FF2B5EF4-FFF2-40B4-BE49-F238E27FC236}">
                  <a16:creationId xmlns:a16="http://schemas.microsoft.com/office/drawing/2014/main" id="{5EC684EA-0A2C-4142-BB87-0902357DB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29" name="Oval 32">
              <a:extLst>
                <a:ext uri="{FF2B5EF4-FFF2-40B4-BE49-F238E27FC236}">
                  <a16:creationId xmlns:a16="http://schemas.microsoft.com/office/drawing/2014/main" id="{FC4D3F11-AFBA-4CAF-AA66-2E35B1D10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30" name="Oval 33">
              <a:extLst>
                <a:ext uri="{FF2B5EF4-FFF2-40B4-BE49-F238E27FC236}">
                  <a16:creationId xmlns:a16="http://schemas.microsoft.com/office/drawing/2014/main" id="{6872AD25-936C-4B22-8F7F-93EDD80F7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31" name="Oval 34">
              <a:extLst>
                <a:ext uri="{FF2B5EF4-FFF2-40B4-BE49-F238E27FC236}">
                  <a16:creationId xmlns:a16="http://schemas.microsoft.com/office/drawing/2014/main" id="{0AC63A92-DD27-4407-AF1C-19BAFD40B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32" name="Oval 35">
              <a:extLst>
                <a:ext uri="{FF2B5EF4-FFF2-40B4-BE49-F238E27FC236}">
                  <a16:creationId xmlns:a16="http://schemas.microsoft.com/office/drawing/2014/main" id="{D4761E0B-B85D-4BFC-90F4-37C88A307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33" name="Oval 36">
              <a:extLst>
                <a:ext uri="{FF2B5EF4-FFF2-40B4-BE49-F238E27FC236}">
                  <a16:creationId xmlns:a16="http://schemas.microsoft.com/office/drawing/2014/main" id="{87DB4199-1E09-4B09-9A0F-FB9C0A464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34" name="Oval 37">
              <a:extLst>
                <a:ext uri="{FF2B5EF4-FFF2-40B4-BE49-F238E27FC236}">
                  <a16:creationId xmlns:a16="http://schemas.microsoft.com/office/drawing/2014/main" id="{AA4D3755-84DC-4AB3-BE15-59E9D50A2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35" name="Oval 38">
              <a:extLst>
                <a:ext uri="{FF2B5EF4-FFF2-40B4-BE49-F238E27FC236}">
                  <a16:creationId xmlns:a16="http://schemas.microsoft.com/office/drawing/2014/main" id="{7B9DB21A-89B2-4A1B-B1DD-E6590F7EC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36" name="Oval 39">
              <a:extLst>
                <a:ext uri="{FF2B5EF4-FFF2-40B4-BE49-F238E27FC236}">
                  <a16:creationId xmlns:a16="http://schemas.microsoft.com/office/drawing/2014/main" id="{431E468A-DC28-4D09-AC0E-8D7521385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</p:grpSp>
      <p:sp>
        <p:nvSpPr>
          <p:cNvPr id="37" name="Line 40">
            <a:extLst>
              <a:ext uri="{FF2B5EF4-FFF2-40B4-BE49-F238E27FC236}">
                <a16:creationId xmlns:a16="http://schemas.microsoft.com/office/drawing/2014/main" id="{D876FA24-FDFE-4CFB-8C73-B036105728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cs-CZ" altLang="en-US"/>
              <a:t>Klepnutím lze upravit styl předlohy nadpisů.</a:t>
            </a:r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cs-CZ" altLang="en-US"/>
              <a:t>Klepnutím lze upravit styl předlohy podnadpisů.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551ECF75-3A89-4B9B-879D-CCCCA29EF7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39" name="Rectangle 6">
            <a:extLst>
              <a:ext uri="{FF2B5EF4-FFF2-40B4-BE49-F238E27FC236}">
                <a16:creationId xmlns:a16="http://schemas.microsoft.com/office/drawing/2014/main" id="{5991A4EC-7C8E-478B-A114-0CEA56C6AA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40" name="Rectangle 7">
            <a:extLst>
              <a:ext uri="{FF2B5EF4-FFF2-40B4-BE49-F238E27FC236}">
                <a16:creationId xmlns:a16="http://schemas.microsoft.com/office/drawing/2014/main" id="{8CB396C6-D373-408C-963B-A1CC57F2B4B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DBE3E-B97B-41D6-94A1-F709D58F0C13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893604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FE2D992-3B27-4DCC-9E0D-4DC5B9271F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89E6343-851C-4CCF-88BC-D5B304BE1C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DE85569-5376-4D31-A12B-134F2F15C5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772082-8A1B-4EDF-850A-A528988E9295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9837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EE7CD5-4C06-4A30-B104-244A80AA6E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1F5DC34-1F18-4A89-B5A9-47926B7102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985FB64-0167-46C2-AD9A-284D74DD9C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8E52B4-E809-43E2-8546-A4D2DA427381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403789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2D2CD83-CBC8-4D5C-9491-E7963A5430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5A14ED-6345-456C-89D4-F4E8B3CA10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F8FC6AA-592B-4D41-B6BB-86D542E666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7C1A8-7796-4DB7-A37B-10CFDD71406D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963319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13C3FFE-FC80-4570-BD82-58B155DC1D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3ED29F7-6C13-41E6-980D-A9D1EF7550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B6D6801-FE4D-42BA-8710-387FA11BCEB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E52D4-D875-490B-B64D-323EDA82A4EB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246491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AA327FA-BA7A-427C-8EA3-89A4457CBD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3FF2F91-4BDA-4CF6-B8A0-EC49205200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3769B18-CC24-44CB-B714-E976DB40C1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42FC5B-2EBA-4C5D-AE36-2765A213381A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4097566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CE38D191-CA7A-44D1-8349-6791DB84388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37F5242-D796-4D31-BD68-6BA42DCFE4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B69C1E4-BBC0-41C4-A1E1-6E5A21F9B6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26C0A-2D10-4F99-9245-FA9F029A8D21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973972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307B348-A840-4261-AB1A-ACC0150906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F3575B3-5931-4A94-891D-B271E46E88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8127B729-C8A7-4846-A1C8-AEDFC0952E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FFCC0-3765-469E-B512-A20EE9BF9190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546382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cs-CZ" noProof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Klepnutím lze upravit styly předlohy textu.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8D661BE-5A57-4134-9725-16FA469230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1ACB5A-AAB8-48B4-980F-9933A27ED5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60EC461-AF29-473D-ACE6-C45CC69D1B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5B4888-54E9-4AA8-B909-D127AEB7DF54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29081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53AB4BB-3397-454D-A45F-683E37D502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177280-6E37-452C-BEC8-7D4DA746A1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C229E15-7419-4D36-80BD-F7CC2AF409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CA1F99-FC17-43BF-85E7-A2CC3A955A0F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2107069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B500E0-5750-4DB7-89CD-6FCCF7D9B6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B2FDD-86BA-4A09-AB38-DA9CD6F50D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FE96EDB4-4054-40AB-948C-BB20782154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0E47D3-4F67-413F-9BDD-7BBA62F91F0C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2950427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Nadpis a tabul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abulku 2"/>
          <p:cNvSpPr>
            <a:spLocks noGrp="1"/>
          </p:cNvSpPr>
          <p:nvPr>
            <p:ph type="tbl" idx="1"/>
          </p:nvPr>
        </p:nvSpPr>
        <p:spPr>
          <a:xfrm>
            <a:off x="457200" y="1719263"/>
            <a:ext cx="8229600" cy="4411662"/>
          </a:xfrm>
        </p:spPr>
        <p:txBody>
          <a:bodyPr/>
          <a:lstStyle/>
          <a:p>
            <a:pPr lvl="0"/>
            <a:endParaRPr lang="cs-CZ" noProof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563A247-3E90-439B-BF36-7F4F28B79B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2C04B3-470F-45A3-AC3E-7008464FE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CF04FBB3-866A-4A8C-9648-C456C1B186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F8977-84B8-4768-805D-35A848529488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3550064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Nadpis, text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7F04B0C-D9BB-4571-B6D6-822D4D9E1B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35201B-82C2-4F1F-A725-C0D220E8A9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61273B9-6CE9-4FB7-B346-E83C079C48F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13D3B-02E5-46A4-BDEF-A619A5459F7F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943226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Nadpis, text a 2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870790-1164-4B76-B1D3-22B6140360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DC1ED8-4656-4FE0-AA74-80331249A8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5B1388-193B-4918-A2EC-5C27D02BCE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BBA9EA-B336-4331-A640-4443D3395743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19899419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Nadpis, 1 velký a 2 malé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D6F8E0-CF6D-4127-BAD2-3599B66666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7B5B8C-E336-479C-9998-0D622157BD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419653-E97E-4247-B6E6-FA45291856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F489E-1C68-4176-9D34-9E4A3E9BA00C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4092034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Nadpis a 4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sz="quarter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cs-CZ"/>
              <a:t>Klepnutím lze upravit styl předlohy nadpisů.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quarter" idx="1"/>
          </p:nvPr>
        </p:nvSpPr>
        <p:spPr>
          <a:xfrm>
            <a:off x="457200" y="1719263"/>
            <a:ext cx="4038600" cy="212883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quarter" idx="2"/>
          </p:nvPr>
        </p:nvSpPr>
        <p:spPr>
          <a:xfrm>
            <a:off x="4648200" y="1719263"/>
            <a:ext cx="4038600" cy="2128837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obsah 4"/>
          <p:cNvSpPr>
            <a:spLocks noGrp="1"/>
          </p:cNvSpPr>
          <p:nvPr>
            <p:ph sz="quarter" idx="3"/>
          </p:nvPr>
        </p:nvSpPr>
        <p:spPr>
          <a:xfrm>
            <a:off x="457200" y="4000500"/>
            <a:ext cx="4038600" cy="2130425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8200" y="4000500"/>
            <a:ext cx="4038600" cy="2130425"/>
          </a:xfrm>
        </p:spPr>
        <p:txBody>
          <a:bodyPr/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48E97CE-9B90-44C2-A03A-139DD3B72E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208AFAE-9A6A-4FAF-8361-9E17551759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50B5330F-6311-49A3-B7DE-ADA048EC23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9D0573-26B3-4F10-93ED-AF73DF1F236E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</p:spTree>
    <p:extLst>
      <p:ext uri="{BB962C8B-B14F-4D97-AF65-F5344CB8AC3E}">
        <p14:creationId xmlns:p14="http://schemas.microsoft.com/office/powerpoint/2010/main" val="399348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>
            <a:extLst>
              <a:ext uri="{FF2B5EF4-FFF2-40B4-BE49-F238E27FC236}">
                <a16:creationId xmlns:a16="http://schemas.microsoft.com/office/drawing/2014/main" id="{D0EB006D-952F-4EEE-9F9C-44906BB0D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4E14F14-6841-4E06-B69B-4A9AE8082E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/>
              <a:t>Klepnutím lze upravit styl předlohy nadpisů.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F2CE9963-5A1F-4F35-BA1C-B0B816E8E2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en-US"/>
              <a:t>Klepnutím lze upravit styly předlohy textu.</a:t>
            </a:r>
          </a:p>
          <a:p>
            <a:pPr lvl="1"/>
            <a:r>
              <a:rPr lang="cs-CZ" altLang="en-US"/>
              <a:t>Druhá úroveň</a:t>
            </a:r>
          </a:p>
          <a:p>
            <a:pPr lvl="2"/>
            <a:r>
              <a:rPr lang="cs-CZ" altLang="en-US"/>
              <a:t>Třetí úroveň</a:t>
            </a:r>
          </a:p>
          <a:p>
            <a:pPr lvl="3"/>
            <a:r>
              <a:rPr lang="cs-CZ" altLang="en-US"/>
              <a:t>Čtvrtá úroveň</a:t>
            </a:r>
          </a:p>
          <a:p>
            <a:pPr lvl="4"/>
            <a:r>
              <a:rPr lang="cs-CZ" altLang="en-US"/>
              <a:t>Pátá úroveň</a:t>
            </a:r>
          </a:p>
        </p:txBody>
      </p:sp>
      <p:sp>
        <p:nvSpPr>
          <p:cNvPr id="92165" name="Rectangle 5">
            <a:extLst>
              <a:ext uri="{FF2B5EF4-FFF2-40B4-BE49-F238E27FC236}">
                <a16:creationId xmlns:a16="http://schemas.microsoft.com/office/drawing/2014/main" id="{651FBCEE-6A31-4939-88B9-E03248034AB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92166" name="Rectangle 6">
            <a:extLst>
              <a:ext uri="{FF2B5EF4-FFF2-40B4-BE49-F238E27FC236}">
                <a16:creationId xmlns:a16="http://schemas.microsoft.com/office/drawing/2014/main" id="{76AC35B1-78B2-4BDD-8CAC-11A378952E6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cs-CZ" altLang="en-US"/>
          </a:p>
        </p:txBody>
      </p:sp>
      <p:sp>
        <p:nvSpPr>
          <p:cNvPr id="92167" name="Rectangle 7">
            <a:extLst>
              <a:ext uri="{FF2B5EF4-FFF2-40B4-BE49-F238E27FC236}">
                <a16:creationId xmlns:a16="http://schemas.microsoft.com/office/drawing/2014/main" id="{722D5E91-2D93-4285-AFD2-A8BFF8BC831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54A97D53-FFA4-4D42-941F-16FDDDEBD838}" type="slidenum">
              <a:rPr lang="cs-CZ" altLang="en-US"/>
              <a:pPr>
                <a:defRPr/>
              </a:pPr>
              <a:t>‹#›</a:t>
            </a:fld>
            <a:endParaRPr lang="cs-CZ" altLang="en-US"/>
          </a:p>
        </p:txBody>
      </p:sp>
      <p:grpSp>
        <p:nvGrpSpPr>
          <p:cNvPr id="1032" name="Group 8">
            <a:extLst>
              <a:ext uri="{FF2B5EF4-FFF2-40B4-BE49-F238E27FC236}">
                <a16:creationId xmlns:a16="http://schemas.microsoft.com/office/drawing/2014/main" id="{F9BD0B2E-F54C-4B09-904D-21C4EC0D28A6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>
              <a:extLst>
                <a:ext uri="{FF2B5EF4-FFF2-40B4-BE49-F238E27FC236}">
                  <a16:creationId xmlns:a16="http://schemas.microsoft.com/office/drawing/2014/main" id="{2E0181BA-2E75-4FD9-9276-46D7F96B4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34" name="Oval 10">
              <a:extLst>
                <a:ext uri="{FF2B5EF4-FFF2-40B4-BE49-F238E27FC236}">
                  <a16:creationId xmlns:a16="http://schemas.microsoft.com/office/drawing/2014/main" id="{9799BBCD-AA85-4D0C-8A68-B3A95C0116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35" name="Oval 11">
              <a:extLst>
                <a:ext uri="{FF2B5EF4-FFF2-40B4-BE49-F238E27FC236}">
                  <a16:creationId xmlns:a16="http://schemas.microsoft.com/office/drawing/2014/main" id="{65D535E9-10A7-44C7-A25D-425731599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36" name="Oval 12">
              <a:extLst>
                <a:ext uri="{FF2B5EF4-FFF2-40B4-BE49-F238E27FC236}">
                  <a16:creationId xmlns:a16="http://schemas.microsoft.com/office/drawing/2014/main" id="{DF7D9C5D-0149-477C-A49D-9227C9D63D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37" name="Oval 13">
              <a:extLst>
                <a:ext uri="{FF2B5EF4-FFF2-40B4-BE49-F238E27FC236}">
                  <a16:creationId xmlns:a16="http://schemas.microsoft.com/office/drawing/2014/main" id="{0B7887D1-D379-4D77-BD7C-E7F0E51DC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38" name="Oval 14">
              <a:extLst>
                <a:ext uri="{FF2B5EF4-FFF2-40B4-BE49-F238E27FC236}">
                  <a16:creationId xmlns:a16="http://schemas.microsoft.com/office/drawing/2014/main" id="{677769CF-90D3-4F21-B91A-CA52B89AF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39" name="Oval 15">
              <a:extLst>
                <a:ext uri="{FF2B5EF4-FFF2-40B4-BE49-F238E27FC236}">
                  <a16:creationId xmlns:a16="http://schemas.microsoft.com/office/drawing/2014/main" id="{9F423B07-AFA0-4C6D-A740-A2E9EFB9A0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0" name="Oval 16">
              <a:extLst>
                <a:ext uri="{FF2B5EF4-FFF2-40B4-BE49-F238E27FC236}">
                  <a16:creationId xmlns:a16="http://schemas.microsoft.com/office/drawing/2014/main" id="{F1D9EDDE-96AC-47D4-BA87-4164C08ED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1" name="Oval 17">
              <a:extLst>
                <a:ext uri="{FF2B5EF4-FFF2-40B4-BE49-F238E27FC236}">
                  <a16:creationId xmlns:a16="http://schemas.microsoft.com/office/drawing/2014/main" id="{0764A4AC-8595-4F1B-A84A-D4BD1FEC3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2" name="Oval 18">
              <a:extLst>
                <a:ext uri="{FF2B5EF4-FFF2-40B4-BE49-F238E27FC236}">
                  <a16:creationId xmlns:a16="http://schemas.microsoft.com/office/drawing/2014/main" id="{FADBF7B8-B5EB-4059-AC3A-81D32695E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3" name="Oval 19">
              <a:extLst>
                <a:ext uri="{FF2B5EF4-FFF2-40B4-BE49-F238E27FC236}">
                  <a16:creationId xmlns:a16="http://schemas.microsoft.com/office/drawing/2014/main" id="{D6E783F3-09D8-494D-B3DF-3B77D2A13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4" name="Oval 20">
              <a:extLst>
                <a:ext uri="{FF2B5EF4-FFF2-40B4-BE49-F238E27FC236}">
                  <a16:creationId xmlns:a16="http://schemas.microsoft.com/office/drawing/2014/main" id="{2E590B5B-E712-4D6D-BEAC-6852AE9C8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5" name="Oval 21">
              <a:extLst>
                <a:ext uri="{FF2B5EF4-FFF2-40B4-BE49-F238E27FC236}">
                  <a16:creationId xmlns:a16="http://schemas.microsoft.com/office/drawing/2014/main" id="{AC8003CC-768B-4FD1-BF20-DEED5D1DA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6" name="Oval 22">
              <a:extLst>
                <a:ext uri="{FF2B5EF4-FFF2-40B4-BE49-F238E27FC236}">
                  <a16:creationId xmlns:a16="http://schemas.microsoft.com/office/drawing/2014/main" id="{2A0A169E-63C5-4AAE-9E06-0F87413F31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7" name="Oval 23">
              <a:extLst>
                <a:ext uri="{FF2B5EF4-FFF2-40B4-BE49-F238E27FC236}">
                  <a16:creationId xmlns:a16="http://schemas.microsoft.com/office/drawing/2014/main" id="{9C705D1F-065D-4F3F-8EE1-9D302615C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8" name="Oval 24">
              <a:extLst>
                <a:ext uri="{FF2B5EF4-FFF2-40B4-BE49-F238E27FC236}">
                  <a16:creationId xmlns:a16="http://schemas.microsoft.com/office/drawing/2014/main" id="{AC0059A4-8E2F-42D2-B1A7-F80DB160E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49" name="Oval 25">
              <a:extLst>
                <a:ext uri="{FF2B5EF4-FFF2-40B4-BE49-F238E27FC236}">
                  <a16:creationId xmlns:a16="http://schemas.microsoft.com/office/drawing/2014/main" id="{C4BA6F19-8400-4BC1-B128-41E439430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0" name="Oval 26">
              <a:extLst>
                <a:ext uri="{FF2B5EF4-FFF2-40B4-BE49-F238E27FC236}">
                  <a16:creationId xmlns:a16="http://schemas.microsoft.com/office/drawing/2014/main" id="{F3047322-6D64-4C75-A8E0-FFB0F7628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1" name="Oval 27">
              <a:extLst>
                <a:ext uri="{FF2B5EF4-FFF2-40B4-BE49-F238E27FC236}">
                  <a16:creationId xmlns:a16="http://schemas.microsoft.com/office/drawing/2014/main" id="{3EFD9ED9-AAD7-4179-8005-6B72CE060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2" name="Oval 28">
              <a:extLst>
                <a:ext uri="{FF2B5EF4-FFF2-40B4-BE49-F238E27FC236}">
                  <a16:creationId xmlns:a16="http://schemas.microsoft.com/office/drawing/2014/main" id="{51059A05-D17C-45D8-A287-A955D70B3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3" name="Oval 29">
              <a:extLst>
                <a:ext uri="{FF2B5EF4-FFF2-40B4-BE49-F238E27FC236}">
                  <a16:creationId xmlns:a16="http://schemas.microsoft.com/office/drawing/2014/main" id="{D30B05FC-90D6-4A75-80A9-0F21E7A86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4" name="Oval 30">
              <a:extLst>
                <a:ext uri="{FF2B5EF4-FFF2-40B4-BE49-F238E27FC236}">
                  <a16:creationId xmlns:a16="http://schemas.microsoft.com/office/drawing/2014/main" id="{DDB6D9DE-75B8-4DBD-8FA3-CF5C90C5C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5" name="Oval 31">
              <a:extLst>
                <a:ext uri="{FF2B5EF4-FFF2-40B4-BE49-F238E27FC236}">
                  <a16:creationId xmlns:a16="http://schemas.microsoft.com/office/drawing/2014/main" id="{AA965EC4-D2C7-44C6-9F78-C55680191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6" name="Oval 32">
              <a:extLst>
                <a:ext uri="{FF2B5EF4-FFF2-40B4-BE49-F238E27FC236}">
                  <a16:creationId xmlns:a16="http://schemas.microsoft.com/office/drawing/2014/main" id="{749A4C5E-55FD-435A-8CD6-AC3230E3A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7" name="Oval 33">
              <a:extLst>
                <a:ext uri="{FF2B5EF4-FFF2-40B4-BE49-F238E27FC236}">
                  <a16:creationId xmlns:a16="http://schemas.microsoft.com/office/drawing/2014/main" id="{8C00AADA-52F1-4830-8259-9876260F5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8" name="Oval 34">
              <a:extLst>
                <a:ext uri="{FF2B5EF4-FFF2-40B4-BE49-F238E27FC236}">
                  <a16:creationId xmlns:a16="http://schemas.microsoft.com/office/drawing/2014/main" id="{ACCE211B-2E7E-435D-9DDF-B9AC56A337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59" name="Oval 35">
              <a:extLst>
                <a:ext uri="{FF2B5EF4-FFF2-40B4-BE49-F238E27FC236}">
                  <a16:creationId xmlns:a16="http://schemas.microsoft.com/office/drawing/2014/main" id="{4FA2F49E-C814-4761-9407-3503B1F43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60" name="Oval 36">
              <a:extLst>
                <a:ext uri="{FF2B5EF4-FFF2-40B4-BE49-F238E27FC236}">
                  <a16:creationId xmlns:a16="http://schemas.microsoft.com/office/drawing/2014/main" id="{5A259883-B151-4194-98D8-CF3E89DB8E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61" name="Oval 37">
              <a:extLst>
                <a:ext uri="{FF2B5EF4-FFF2-40B4-BE49-F238E27FC236}">
                  <a16:creationId xmlns:a16="http://schemas.microsoft.com/office/drawing/2014/main" id="{328C5E8A-89B7-42D2-B3C4-80ED45F36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62" name="Oval 38">
              <a:extLst>
                <a:ext uri="{FF2B5EF4-FFF2-40B4-BE49-F238E27FC236}">
                  <a16:creationId xmlns:a16="http://schemas.microsoft.com/office/drawing/2014/main" id="{8372BA55-A1D7-47EC-A13C-88DA03D00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  <p:sp>
          <p:nvSpPr>
            <p:cNvPr id="1063" name="Oval 39">
              <a:extLst>
                <a:ext uri="{FF2B5EF4-FFF2-40B4-BE49-F238E27FC236}">
                  <a16:creationId xmlns:a16="http://schemas.microsoft.com/office/drawing/2014/main" id="{9ADB0C24-F015-46C5-8BB3-9D23E4653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cs-CZ" altLang="cs-CZ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4" r:id="rId1"/>
    <p:sldLayoutId id="2147484579" r:id="rId2"/>
    <p:sldLayoutId id="2147484580" r:id="rId3"/>
    <p:sldLayoutId id="2147484581" r:id="rId4"/>
    <p:sldLayoutId id="2147484582" r:id="rId5"/>
    <p:sldLayoutId id="2147484583" r:id="rId6"/>
    <p:sldLayoutId id="2147484584" r:id="rId7"/>
    <p:sldLayoutId id="2147484585" r:id="rId8"/>
    <p:sldLayoutId id="2147484586" r:id="rId9"/>
    <p:sldLayoutId id="2147484587" r:id="rId10"/>
    <p:sldLayoutId id="2147484588" r:id="rId11"/>
    <p:sldLayoutId id="2147484589" r:id="rId12"/>
    <p:sldLayoutId id="2147484590" r:id="rId13"/>
    <p:sldLayoutId id="2147484591" r:id="rId14"/>
    <p:sldLayoutId id="2147484592" r:id="rId15"/>
    <p:sldLayoutId id="2147484593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gentura-cas.cz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asociacebezpecnaskola.cz/2018/09/17/rizeni-rizik-modelem-svycarskeho-syra/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7518C28-9711-402A-960C-95DE0E50190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50825" y="404813"/>
            <a:ext cx="2519363" cy="2232025"/>
          </a:xfrm>
        </p:spPr>
        <p:txBody>
          <a:bodyPr/>
          <a:lstStyle/>
          <a:p>
            <a:pPr eaLnBrk="1" hangingPunct="1"/>
            <a:r>
              <a:rPr lang="cs-CZ" altLang="cs-CZ" sz="2800" b="0" dirty="0"/>
              <a:t>Systém povinné péče </a:t>
            </a:r>
            <a:br>
              <a:rPr lang="cs-CZ" altLang="cs-CZ" sz="2800" b="0" dirty="0"/>
            </a:br>
            <a:r>
              <a:rPr lang="cs-CZ" altLang="cs-CZ" sz="2800" b="0" dirty="0"/>
              <a:t>o bezpečnost elektrických zařízení</a:t>
            </a:r>
          </a:p>
        </p:txBody>
      </p:sp>
      <p:pic>
        <p:nvPicPr>
          <p:cNvPr id="4099" name="Picture 5">
            <a:extLst>
              <a:ext uri="{FF2B5EF4-FFF2-40B4-BE49-F238E27FC236}">
                <a16:creationId xmlns:a16="http://schemas.microsoft.com/office/drawing/2014/main" id="{F2252F51-D6D9-49C2-B330-667A8F5E9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404813"/>
            <a:ext cx="4318000" cy="611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Text Box 7">
            <a:extLst>
              <a:ext uri="{FF2B5EF4-FFF2-40B4-BE49-F238E27FC236}">
                <a16:creationId xmlns:a16="http://schemas.microsoft.com/office/drawing/2014/main" id="{47494D53-38AB-45B4-A938-01EE9A00E6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068638"/>
            <a:ext cx="2305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800" dirty="0"/>
              <a:t>Materiál pro přípravu na test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690DF34-E8F5-4BA6-97A9-486F830EA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333375"/>
            <a:ext cx="6913016" cy="647353"/>
          </a:xfrm>
        </p:spPr>
        <p:txBody>
          <a:bodyPr/>
          <a:lstStyle/>
          <a:p>
            <a:pPr eaLnBrk="1" hangingPunct="1"/>
            <a:r>
              <a:rPr lang="cs-CZ" altLang="cs-CZ" sz="2000" b="0" dirty="0"/>
              <a:t>Základy bezpečnosti v elektrotechnice</a:t>
            </a:r>
            <a:br>
              <a:rPr lang="cs-CZ" altLang="cs-CZ" sz="2000" b="0" dirty="0"/>
            </a:br>
            <a:r>
              <a:rPr lang="cs-CZ" altLang="cs-CZ" sz="2000" b="0" dirty="0"/>
              <a:t>Související právní předpisy</a:t>
            </a:r>
            <a:endParaRPr lang="cs-CZ" altLang="cs-CZ" sz="2000" b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462E6FD8-D16D-4765-8DFB-65DFA3985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87221" y="980728"/>
            <a:ext cx="8605260" cy="576064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800" u="sng" dirty="0"/>
              <a:t>Obecné právní předpisy, stav od 1. 7. 2022:</a:t>
            </a:r>
          </a:p>
          <a:p>
            <a:pPr eaLnBrk="1" hangingPunct="1">
              <a:spcBef>
                <a:spcPts val="600"/>
              </a:spcBef>
              <a:buSzTx/>
              <a:buFont typeface="Wingdings" panose="05000000000000000000" pitchFamily="2" charset="2"/>
              <a:buChar char="§"/>
            </a:pPr>
            <a:r>
              <a:rPr lang="cs-CZ" altLang="cs-CZ" sz="1400" dirty="0"/>
              <a:t>Zákon č. 262/2006 Sb. Zákoník práce</a:t>
            </a:r>
          </a:p>
          <a:p>
            <a:pPr eaLnBrk="1" hangingPunct="1">
              <a:spcBef>
                <a:spcPts val="600"/>
              </a:spcBef>
              <a:buSzTx/>
              <a:buFont typeface="Wingdings" panose="05000000000000000000" pitchFamily="2" charset="2"/>
              <a:buChar char="§"/>
            </a:pPr>
            <a:r>
              <a:rPr lang="cs-CZ" altLang="cs-CZ" sz="1400" dirty="0"/>
              <a:t>Zákon č. 89/2012 Občanský zákoník</a:t>
            </a:r>
          </a:p>
          <a:p>
            <a:pPr eaLnBrk="1" hangingPunct="1">
              <a:spcBef>
                <a:spcPts val="600"/>
              </a:spcBef>
              <a:buSzTx/>
              <a:buFont typeface="Wingdings" panose="05000000000000000000" pitchFamily="2" charset="2"/>
              <a:buChar char="§"/>
            </a:pPr>
            <a:r>
              <a:rPr lang="cs-CZ" altLang="cs-CZ" sz="1400" dirty="0"/>
              <a:t>Zákon č. 251/2005 Sb. o inspekci práce</a:t>
            </a:r>
          </a:p>
          <a:p>
            <a:pPr eaLnBrk="1" hangingPunct="1">
              <a:spcBef>
                <a:spcPts val="600"/>
              </a:spcBef>
              <a:buSzTx/>
              <a:buFont typeface="Wingdings" panose="05000000000000000000" pitchFamily="2" charset="2"/>
              <a:buChar char="§"/>
            </a:pPr>
            <a:r>
              <a:rPr lang="cs-CZ" altLang="cs-CZ" sz="1400" dirty="0"/>
              <a:t>Zákon č. 250/2021 Sb., o bezpečnosti práce v souvislosti s provozem vyhrazených technických zařízení</a:t>
            </a:r>
          </a:p>
          <a:p>
            <a:pPr eaLnBrk="1" hangingPunct="1">
              <a:spcBef>
                <a:spcPts val="600"/>
              </a:spcBef>
              <a:buSzTx/>
              <a:buFont typeface="Wingdings" panose="05000000000000000000" pitchFamily="2" charset="2"/>
              <a:buChar char="§"/>
            </a:pPr>
            <a:r>
              <a:rPr lang="cs-CZ" sz="1400" dirty="0"/>
              <a:t>Nařízení vlády č. 194/2022 Sb. o požadavcích na odbornou způsobilost k výkonu činnosti</a:t>
            </a:r>
            <a:br>
              <a:rPr lang="cs-CZ" sz="1400" dirty="0"/>
            </a:br>
            <a:r>
              <a:rPr lang="cs-CZ" sz="1400" dirty="0"/>
              <a:t>na elektrických zařízeních a na odbornou způsobilost v </a:t>
            </a:r>
            <a:r>
              <a:rPr lang="cs-CZ" sz="1400" dirty="0" err="1"/>
              <a:t>elektrotechnic</a:t>
            </a:r>
            <a:endParaRPr lang="cs-CZ" sz="1400" dirty="0"/>
          </a:p>
          <a:p>
            <a:pPr marL="0" indent="0" eaLnBrk="1" hangingPunct="1">
              <a:spcBef>
                <a:spcPts val="600"/>
              </a:spcBef>
              <a:buSzTx/>
              <a:buNone/>
            </a:pPr>
            <a:endParaRPr lang="cs-CZ" altLang="cs-CZ" sz="1400" strike="sngStrike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800" u="sng" dirty="0"/>
              <a:t>Technické právní předpisy, stav od 1. 7. 2022:</a:t>
            </a:r>
          </a:p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cs-CZ" sz="1400" dirty="0"/>
              <a:t>Nařízení vlády č. 190/2022 Sb. o vyhrazených technických elektrických zařízeních a požadavcích</a:t>
            </a:r>
            <a:br>
              <a:rPr lang="cs-CZ" sz="1400" dirty="0"/>
            </a:br>
            <a:r>
              <a:rPr lang="cs-CZ" sz="1400" dirty="0"/>
              <a:t>na zajištění jejich bezpečnosti</a:t>
            </a:r>
            <a:endParaRPr lang="cs-CZ" altLang="cs-CZ" sz="1400" dirty="0"/>
          </a:p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cs-CZ" altLang="cs-CZ" sz="1400" dirty="0"/>
              <a:t>Zákon č. 22/1997 Sb. o technických požadavcích na výrobky a o změně a doplnění některých zákonů</a:t>
            </a:r>
          </a:p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cs-CZ" altLang="cs-CZ" sz="1400" dirty="0"/>
              <a:t>Zákon č. 90/2016 Sb. o posuzování shody stanovených výrobků při jejich dodávání na trh</a:t>
            </a:r>
          </a:p>
          <a:p>
            <a:pPr eaLnBrk="1" hangingPunct="1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cs-CZ" altLang="cs-CZ" sz="1400" dirty="0"/>
              <a:t>Nařízení č. 118/2016 Sb. o posuzování shody elektrických zařízení určených pro používání</a:t>
            </a:r>
            <a:br>
              <a:rPr lang="cs-CZ" altLang="cs-CZ" sz="1400" dirty="0"/>
            </a:br>
            <a:r>
              <a:rPr lang="cs-CZ" altLang="cs-CZ" sz="1400" dirty="0"/>
              <a:t>v určitých mezích napětí při jejich dodávání na trh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E4A0D17-E860-4764-B6EC-E5AB19A84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560" y="188640"/>
            <a:ext cx="6857226" cy="1080120"/>
          </a:xfrm>
        </p:spPr>
        <p:txBody>
          <a:bodyPr/>
          <a:lstStyle/>
          <a:p>
            <a:pPr eaLnBrk="1" hangingPunct="1"/>
            <a:r>
              <a:rPr lang="cs-CZ" altLang="cs-CZ" sz="2400" b="0" dirty="0"/>
              <a:t>Základní technické normy pro oblast bezpečnosti v elektrotechnice</a:t>
            </a:r>
            <a:br>
              <a:rPr lang="cs-CZ" altLang="cs-CZ" sz="2800" b="0" dirty="0"/>
            </a:br>
            <a:r>
              <a:rPr lang="cs-CZ" sz="1400" b="0" kern="12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https://www.agentura-cas.cz/</a:t>
            </a:r>
            <a:endParaRPr lang="cs-CZ" altLang="cs-CZ" sz="1400" b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E44C281-468E-419B-922D-AEBEEEE64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6250" y="1341438"/>
            <a:ext cx="7488238" cy="5183906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IEC 60479-1 Účinky proudu na člověka a domácí zvířectvo – Část 1: Obecná hlediska (2019)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EN 50110-1 ed.4 Obsluha a práce na elektrických zařízeních (2025)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EN 61140 ed.3 Ochrana před úrazem elektrickým proudem - Společná hlediska pro instalaci a zařízení (2016)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EN 60038 Jmenovitá napětí CENELEC (2012)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33 2000-1 ed.2 Elektrické instalace nízkého napětí - Část 1: Základní hlediska, stanovení základních charakteristik, definice (2009)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33 2000-5-51 ed.3+Z1+Z2 Elektrické instalace nízkého napětí - Část 5-51: Výběr </a:t>
            </a:r>
            <a:br>
              <a:rPr lang="cs-CZ" altLang="cs-CZ" sz="1400" dirty="0"/>
            </a:br>
            <a:r>
              <a:rPr lang="cs-CZ" altLang="cs-CZ" sz="1400" dirty="0"/>
              <a:t>a stavba elektrických zařízení - Obecné předpisy (2022)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33 2000-4-41 ed.3 Elektrické instalace nízkého napětí - Část 4-41: Ochranná opatření pro zajištění bezpečnosti - Ochrana před úrazem elektrickým proudem (2018)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33 2000-5-54 ed.3 Elektrické instalace nízkého napětí - Část 5-54: Výběr a stavba elektrických zařízení – Uzemnění a ochranné vodiče  (2012)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ISO 3864-1 Grafické značky - Bezpečnostní barvy a bezpečnostní značky - Část 1: Zásady navrhování bezpečnostních značek a bezpečnostního značení (2013)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EN IEC 60445 ed.6 Základní a bezpečnostní zásady pro rozhraní člověk - stroj, značení a identifikace – Identifikace svorek předmětů, konců vodičů a vodičů (2022)</a:t>
            </a:r>
          </a:p>
          <a:p>
            <a:pPr eaLnBrk="1" hangingPunct="1">
              <a:spcBef>
                <a:spcPct val="0"/>
              </a:spcBef>
              <a:spcAft>
                <a:spcPts val="600"/>
              </a:spcAft>
              <a:buSzTx/>
              <a:buFont typeface="Wingdings" panose="05000000000000000000" pitchFamily="2" charset="2"/>
              <a:buChar char="§"/>
              <a:defRPr/>
            </a:pPr>
            <a:r>
              <a:rPr lang="cs-CZ" altLang="cs-CZ" sz="1400" dirty="0"/>
              <a:t>ČSN EN 33 2000-7 Elektrické instalace nízkého napětí – Část 7–7xx: Zařízení jednoúčelová a ve zvláštních objektech - 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93C41F1-63A4-47E1-BE39-48405E70FA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205326"/>
            <a:ext cx="8817666" cy="820500"/>
          </a:xfrm>
        </p:spPr>
        <p:txBody>
          <a:bodyPr/>
          <a:lstStyle/>
          <a:p>
            <a:pPr eaLnBrk="1" hangingPunct="1"/>
            <a:r>
              <a:rPr lang="cs-CZ" sz="2200" b="0" i="0" u="none" strike="noStrike" baseline="0" dirty="0"/>
              <a:t>Používání elektrických zařízení z hlediska bezpečnostních rizik.</a:t>
            </a:r>
            <a:br>
              <a:rPr lang="cs-CZ" sz="2200" b="0" i="0" u="none" strike="noStrike" baseline="0" dirty="0"/>
            </a:br>
            <a:r>
              <a:rPr lang="cs-CZ" sz="1800" b="0" i="0" u="none" strike="noStrike" baseline="0" dirty="0"/>
              <a:t>Řízení rizik modelem švýcarského sýra (Dante </a:t>
            </a:r>
            <a:r>
              <a:rPr lang="cs-CZ" sz="1800" b="0" i="0" u="none" strike="noStrike" baseline="0" dirty="0" err="1"/>
              <a:t>Orlandell</a:t>
            </a:r>
            <a:r>
              <a:rPr lang="cs-CZ" sz="1800" b="0" i="0" u="none" strike="noStrike" baseline="0" dirty="0"/>
              <a:t> a James T. </a:t>
            </a:r>
            <a:r>
              <a:rPr lang="cs-CZ" sz="1800" b="0" i="0" u="none" strike="noStrike" baseline="0" dirty="0" err="1"/>
              <a:t>Reason</a:t>
            </a:r>
            <a:r>
              <a:rPr lang="cs-CZ" sz="1800" b="0" i="0" u="none" strike="noStrike" baseline="0" dirty="0"/>
              <a:t>).</a:t>
            </a:r>
            <a:endParaRPr lang="cs-CZ" altLang="cs-CZ" sz="1800" b="0" dirty="0"/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634E6928-3CF5-4081-8A07-C8196241241A}"/>
              </a:ext>
            </a:extLst>
          </p:cNvPr>
          <p:cNvSpPr txBox="1"/>
          <p:nvPr/>
        </p:nvSpPr>
        <p:spPr>
          <a:xfrm>
            <a:off x="176694" y="1321207"/>
            <a:ext cx="386298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0" i="0" dirty="0">
                <a:solidFill>
                  <a:srgbClr val="000000"/>
                </a:solidFill>
                <a:effectLst/>
                <a:latin typeface="+mn-lt"/>
              </a:rPr>
              <a:t>Komplexní metodika prevence stojí na </a:t>
            </a:r>
            <a:r>
              <a:rPr lang="cs-CZ" b="0" i="0" u="sng" dirty="0">
                <a:solidFill>
                  <a:srgbClr val="000000"/>
                </a:solidFill>
                <a:effectLst/>
                <a:latin typeface="+mn-lt"/>
              </a:rPr>
              <a:t>třech základních pilířích</a:t>
            </a:r>
            <a:r>
              <a:rPr lang="cs-CZ" b="0" i="0" dirty="0">
                <a:solidFill>
                  <a:srgbClr val="000000"/>
                </a:solidFill>
                <a:effectLst/>
                <a:latin typeface="+mn-lt"/>
              </a:rPr>
              <a:t> – vzdělání a vědomosti o dané problematice, zavedená režimově-organizační opatření a technické ochranné prostředky. 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1EA68BBD-522B-4ADF-B681-106031F5A232}"/>
              </a:ext>
            </a:extLst>
          </p:cNvPr>
          <p:cNvSpPr txBox="1"/>
          <p:nvPr/>
        </p:nvSpPr>
        <p:spPr>
          <a:xfrm>
            <a:off x="150423" y="6499497"/>
            <a:ext cx="583264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1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https://www.asociacebezpecnaskola.cz/2018/09/17/rizeni-rizik-modelem-svycarskeho-syra/</a:t>
            </a:r>
            <a:endParaRPr lang="cs-CZ" sz="1100" dirty="0"/>
          </a:p>
        </p:txBody>
      </p:sp>
      <p:sp>
        <p:nvSpPr>
          <p:cNvPr id="47" name="TextovéPole 46">
            <a:extLst>
              <a:ext uri="{FF2B5EF4-FFF2-40B4-BE49-F238E27FC236}">
                <a16:creationId xmlns:a16="http://schemas.microsoft.com/office/drawing/2014/main" id="{AFA23A48-F3BC-439B-9078-6DAB684B01B2}"/>
              </a:ext>
            </a:extLst>
          </p:cNvPr>
          <p:cNvSpPr txBox="1"/>
          <p:nvPr/>
        </p:nvSpPr>
        <p:spPr>
          <a:xfrm>
            <a:off x="144404" y="5219494"/>
            <a:ext cx="87088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0" i="0" dirty="0">
                <a:solidFill>
                  <a:srgbClr val="000000"/>
                </a:solidFill>
                <a:effectLst/>
                <a:latin typeface="+mn-lt"/>
              </a:rPr>
              <a:t>Předpokládáme, že každá vrstva prevence má své slabiny. Ať se jedná o lidský faktor, nedokonale nastavená pravidla, nefungující techniku, či další aspekty. Systém z vícevrstvé prevence jako celek nedovolí, aby slabiny v jedné vrstvě ohrozily celý systém.</a:t>
            </a:r>
            <a:endParaRPr lang="cs-CZ" dirty="0">
              <a:latin typeface="+mn-lt"/>
            </a:endParaRPr>
          </a:p>
        </p:txBody>
      </p:sp>
      <p:sp>
        <p:nvSpPr>
          <p:cNvPr id="49" name="TextovéPole 48">
            <a:extLst>
              <a:ext uri="{FF2B5EF4-FFF2-40B4-BE49-F238E27FC236}">
                <a16:creationId xmlns:a16="http://schemas.microsoft.com/office/drawing/2014/main" id="{2FAD1FE4-D5D3-4F6F-95E5-3AA8356A8483}"/>
              </a:ext>
            </a:extLst>
          </p:cNvPr>
          <p:cNvSpPr txBox="1"/>
          <p:nvPr/>
        </p:nvSpPr>
        <p:spPr>
          <a:xfrm>
            <a:off x="144404" y="3605126"/>
            <a:ext cx="27373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b="0" i="0" dirty="0">
                <a:solidFill>
                  <a:srgbClr val="000000"/>
                </a:solidFill>
                <a:effectLst/>
                <a:latin typeface="+mn-lt"/>
              </a:rPr>
              <a:t>Tyto pilíře nelze od sebe oddělit, protože následně by prevence nestála na „pevných nohách“.</a:t>
            </a:r>
          </a:p>
        </p:txBody>
      </p:sp>
      <p:grpSp>
        <p:nvGrpSpPr>
          <p:cNvPr id="46" name="Skupina 45">
            <a:extLst>
              <a:ext uri="{FF2B5EF4-FFF2-40B4-BE49-F238E27FC236}">
                <a16:creationId xmlns:a16="http://schemas.microsoft.com/office/drawing/2014/main" id="{CC6882A5-C64C-4EC9-A078-A1AB90FFFF4C}"/>
              </a:ext>
            </a:extLst>
          </p:cNvPr>
          <p:cNvGrpSpPr/>
          <p:nvPr/>
        </p:nvGrpSpPr>
        <p:grpSpPr>
          <a:xfrm>
            <a:off x="2540904" y="1110601"/>
            <a:ext cx="6312335" cy="4284488"/>
            <a:chOff x="2540904" y="1110601"/>
            <a:chExt cx="6312335" cy="4284488"/>
          </a:xfrm>
        </p:grpSpPr>
        <p:grpSp>
          <p:nvGrpSpPr>
            <p:cNvPr id="42" name="Skupina 41">
              <a:extLst>
                <a:ext uri="{FF2B5EF4-FFF2-40B4-BE49-F238E27FC236}">
                  <a16:creationId xmlns:a16="http://schemas.microsoft.com/office/drawing/2014/main" id="{A3D077F3-5E88-4BBC-A57F-4AF13CA9A97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40904" y="1110601"/>
              <a:ext cx="6312335" cy="4284488"/>
              <a:chOff x="385263" y="1930731"/>
              <a:chExt cx="7351111" cy="4989560"/>
            </a:xfrm>
          </p:grpSpPr>
          <p:pic>
            <p:nvPicPr>
              <p:cNvPr id="13" name="Obrázek 12">
                <a:extLst>
                  <a:ext uri="{FF2B5EF4-FFF2-40B4-BE49-F238E27FC236}">
                    <a16:creationId xmlns:a16="http://schemas.microsoft.com/office/drawing/2014/main" id="{130D29B9-281E-4E96-96A1-69F611FD2C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95571" y="2955588"/>
                <a:ext cx="5352858" cy="3384000"/>
              </a:xfrm>
              <a:prstGeom prst="rect">
                <a:avLst/>
              </a:prstGeom>
            </p:spPr>
          </p:pic>
          <p:sp>
            <p:nvSpPr>
              <p:cNvPr id="15" name="TextovéPole 14">
                <a:extLst>
                  <a:ext uri="{FF2B5EF4-FFF2-40B4-BE49-F238E27FC236}">
                    <a16:creationId xmlns:a16="http://schemas.microsoft.com/office/drawing/2014/main" id="{B0420CBA-AB4D-47DA-899B-8DCD946EEBF0}"/>
                  </a:ext>
                </a:extLst>
              </p:cNvPr>
              <p:cNvSpPr txBox="1"/>
              <p:nvPr/>
            </p:nvSpPr>
            <p:spPr>
              <a:xfrm>
                <a:off x="3794945" y="2156746"/>
                <a:ext cx="1569580" cy="75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b="1" i="0" dirty="0">
                    <a:ln>
                      <a:solidFill>
                        <a:schemeClr val="tx1"/>
                      </a:solidFill>
                    </a:ln>
                    <a:solidFill>
                      <a:srgbClr val="7300E6"/>
                    </a:solidFill>
                    <a:effectLst/>
                    <a:latin typeface="+mn-lt"/>
                  </a:rPr>
                  <a:t>vzdělání a vědomosti</a:t>
                </a:r>
                <a:endParaRPr lang="cs-CZ" b="1" dirty="0">
                  <a:ln>
                    <a:solidFill>
                      <a:schemeClr val="tx1"/>
                    </a:solidFill>
                  </a:ln>
                  <a:solidFill>
                    <a:srgbClr val="7300E6"/>
                  </a:solidFill>
                </a:endParaRPr>
              </a:p>
            </p:txBody>
          </p:sp>
          <p:sp>
            <p:nvSpPr>
              <p:cNvPr id="16" name="TextovéPole 15">
                <a:extLst>
                  <a:ext uri="{FF2B5EF4-FFF2-40B4-BE49-F238E27FC236}">
                    <a16:creationId xmlns:a16="http://schemas.microsoft.com/office/drawing/2014/main" id="{C77D9C07-C464-4A03-8095-4BB2AC556BB9}"/>
                  </a:ext>
                </a:extLst>
              </p:cNvPr>
              <p:cNvSpPr txBox="1"/>
              <p:nvPr/>
            </p:nvSpPr>
            <p:spPr>
              <a:xfrm>
                <a:off x="2100042" y="2794418"/>
                <a:ext cx="1701097" cy="75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b="1" i="0" dirty="0">
                    <a:ln>
                      <a:solidFill>
                        <a:schemeClr val="tx1"/>
                      </a:solidFill>
                    </a:ln>
                    <a:solidFill>
                      <a:srgbClr val="7300E6"/>
                    </a:solidFill>
                    <a:effectLst/>
                    <a:latin typeface="+mn-lt"/>
                  </a:rPr>
                  <a:t>organizační opatření </a:t>
                </a:r>
                <a:endParaRPr lang="cs-CZ" b="1" dirty="0">
                  <a:ln>
                    <a:solidFill>
                      <a:schemeClr val="tx1"/>
                    </a:solidFill>
                  </a:ln>
                  <a:solidFill>
                    <a:srgbClr val="7300E6"/>
                  </a:solidFill>
                </a:endParaRPr>
              </a:p>
            </p:txBody>
          </p:sp>
          <p:sp>
            <p:nvSpPr>
              <p:cNvPr id="17" name="TextovéPole 16">
                <a:extLst>
                  <a:ext uri="{FF2B5EF4-FFF2-40B4-BE49-F238E27FC236}">
                    <a16:creationId xmlns:a16="http://schemas.microsoft.com/office/drawing/2014/main" id="{64082018-96E1-49C1-8C13-73458345C5B0}"/>
                  </a:ext>
                </a:extLst>
              </p:cNvPr>
              <p:cNvSpPr txBox="1"/>
              <p:nvPr/>
            </p:nvSpPr>
            <p:spPr>
              <a:xfrm>
                <a:off x="5465409" y="1930731"/>
                <a:ext cx="1701096" cy="75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b="1" i="0" dirty="0">
                    <a:ln>
                      <a:solidFill>
                        <a:schemeClr val="tx1"/>
                      </a:solidFill>
                    </a:ln>
                    <a:solidFill>
                      <a:srgbClr val="7300E6"/>
                    </a:solidFill>
                    <a:effectLst/>
                    <a:latin typeface="+mn-lt"/>
                  </a:rPr>
                  <a:t>technické prostředky</a:t>
                </a:r>
                <a:endParaRPr lang="cs-CZ" b="1" dirty="0">
                  <a:ln>
                    <a:solidFill>
                      <a:schemeClr val="tx1"/>
                    </a:solidFill>
                  </a:ln>
                  <a:solidFill>
                    <a:srgbClr val="7300E6"/>
                  </a:solidFill>
                </a:endParaRPr>
              </a:p>
            </p:txBody>
          </p:sp>
          <p:sp>
            <p:nvSpPr>
              <p:cNvPr id="18" name="Šipka: dolů 17">
                <a:extLst>
                  <a:ext uri="{FF2B5EF4-FFF2-40B4-BE49-F238E27FC236}">
                    <a16:creationId xmlns:a16="http://schemas.microsoft.com/office/drawing/2014/main" id="{DA8F0DE6-8D5D-451A-A9C3-FAA2FDDB4005}"/>
                  </a:ext>
                </a:extLst>
              </p:cNvPr>
              <p:cNvSpPr/>
              <p:nvPr/>
            </p:nvSpPr>
            <p:spPr>
              <a:xfrm>
                <a:off x="3340825" y="3159992"/>
                <a:ext cx="144016" cy="72172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19" name="Šipka: dolů 18">
                <a:extLst>
                  <a:ext uri="{FF2B5EF4-FFF2-40B4-BE49-F238E27FC236}">
                    <a16:creationId xmlns:a16="http://schemas.microsoft.com/office/drawing/2014/main" id="{A6C5FD32-7759-4BF3-8B33-4DD26E7BF840}"/>
                  </a:ext>
                </a:extLst>
              </p:cNvPr>
              <p:cNvSpPr/>
              <p:nvPr/>
            </p:nvSpPr>
            <p:spPr>
              <a:xfrm>
                <a:off x="4628627" y="2901259"/>
                <a:ext cx="144016" cy="72172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20" name="Šipka: dolů 19">
                <a:extLst>
                  <a:ext uri="{FF2B5EF4-FFF2-40B4-BE49-F238E27FC236}">
                    <a16:creationId xmlns:a16="http://schemas.microsoft.com/office/drawing/2014/main" id="{D2087E2E-931D-4BF9-96D1-C3840B74D550}"/>
                  </a:ext>
                </a:extLst>
              </p:cNvPr>
              <p:cNvSpPr/>
              <p:nvPr/>
            </p:nvSpPr>
            <p:spPr>
              <a:xfrm>
                <a:off x="5648635" y="2704646"/>
                <a:ext cx="144016" cy="721725"/>
              </a:xfrm>
              <a:prstGeom prst="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cxnSp>
            <p:nvCxnSpPr>
              <p:cNvPr id="23" name="Přímá spojnice se šipkou 22">
                <a:extLst>
                  <a:ext uri="{FF2B5EF4-FFF2-40B4-BE49-F238E27FC236}">
                    <a16:creationId xmlns:a16="http://schemas.microsoft.com/office/drawing/2014/main" id="{3A1F0C36-16CB-4934-8C22-DF324BB133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5232698" y="5317819"/>
                <a:ext cx="1084709" cy="15006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Přímá spojnice se šipkou 27">
                <a:extLst>
                  <a:ext uri="{FF2B5EF4-FFF2-40B4-BE49-F238E27FC236}">
                    <a16:creationId xmlns:a16="http://schemas.microsoft.com/office/drawing/2014/main" id="{04E70BDB-534D-4F4C-9676-4210D0CECBDC}"/>
                  </a:ext>
                </a:extLst>
              </p:cNvPr>
              <p:cNvCxnSpPr>
                <a:cxnSpLocks/>
              </p:cNvCxnSpPr>
              <p:nvPr/>
            </p:nvCxnSpPr>
            <p:spPr>
              <a:xfrm rot="-60000" flipH="1" flipV="1">
                <a:off x="5724128" y="4971725"/>
                <a:ext cx="588343" cy="40446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ovéPole 26">
                <a:extLst>
                  <a:ext uri="{FF2B5EF4-FFF2-40B4-BE49-F238E27FC236}">
                    <a16:creationId xmlns:a16="http://schemas.microsoft.com/office/drawing/2014/main" id="{46CA7AC5-3ED8-4846-8F1C-ED830159D842}"/>
                  </a:ext>
                </a:extLst>
              </p:cNvPr>
              <p:cNvSpPr txBox="1"/>
              <p:nvPr/>
            </p:nvSpPr>
            <p:spPr>
              <a:xfrm>
                <a:off x="6372200" y="5273528"/>
                <a:ext cx="1364174" cy="43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b="0" i="0" dirty="0">
                    <a:solidFill>
                      <a:srgbClr val="000000"/>
                    </a:solidFill>
                    <a:effectLst/>
                    <a:latin typeface="+mn-lt"/>
                  </a:rPr>
                  <a:t>opatření</a:t>
                </a:r>
                <a:endParaRPr lang="cs-CZ" dirty="0"/>
              </a:p>
            </p:txBody>
          </p:sp>
          <p:sp>
            <p:nvSpPr>
              <p:cNvPr id="30" name="TextovéPole 29">
                <a:extLst>
                  <a:ext uri="{FF2B5EF4-FFF2-40B4-BE49-F238E27FC236}">
                    <a16:creationId xmlns:a16="http://schemas.microsoft.com/office/drawing/2014/main" id="{854C8CE7-5A8D-4807-AEB0-7B087003AAD9}"/>
                  </a:ext>
                </a:extLst>
              </p:cNvPr>
              <p:cNvSpPr txBox="1"/>
              <p:nvPr/>
            </p:nvSpPr>
            <p:spPr>
              <a:xfrm>
                <a:off x="4343269" y="5691304"/>
                <a:ext cx="2700742" cy="752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b="0" i="0" dirty="0">
                    <a:solidFill>
                      <a:srgbClr val="000000"/>
                    </a:solidFill>
                    <a:effectLst/>
                    <a:latin typeface="+mn-lt"/>
                  </a:rPr>
                  <a:t>„díry“ – aktivní</a:t>
                </a:r>
                <a:br>
                  <a:rPr lang="cs-CZ" b="0" i="0" dirty="0">
                    <a:solidFill>
                      <a:srgbClr val="000000"/>
                    </a:solidFill>
                    <a:effectLst/>
                    <a:latin typeface="+mn-lt"/>
                  </a:rPr>
                </a:br>
                <a:r>
                  <a:rPr lang="cs-CZ" b="0" i="0" dirty="0">
                    <a:solidFill>
                      <a:srgbClr val="000000"/>
                    </a:solidFill>
                    <a:effectLst/>
                    <a:latin typeface="+mn-lt"/>
                  </a:rPr>
                  <a:t>nebo latentní selhání</a:t>
                </a:r>
                <a:endParaRPr lang="cs-CZ" dirty="0"/>
              </a:p>
            </p:txBody>
          </p:sp>
          <p:cxnSp>
            <p:nvCxnSpPr>
              <p:cNvPr id="37" name="Přímá spojnice se šipkou 36">
                <a:extLst>
                  <a:ext uri="{FF2B5EF4-FFF2-40B4-BE49-F238E27FC236}">
                    <a16:creationId xmlns:a16="http://schemas.microsoft.com/office/drawing/2014/main" id="{1C8AEDA5-0076-45DC-BD21-18E2A779008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710646" y="5432819"/>
                <a:ext cx="783537" cy="46048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Přímá spojnice se šipkou 37">
                <a:extLst>
                  <a:ext uri="{FF2B5EF4-FFF2-40B4-BE49-F238E27FC236}">
                    <a16:creationId xmlns:a16="http://schemas.microsoft.com/office/drawing/2014/main" id="{1D8BB68F-1C3A-4744-A2FE-695225790954}"/>
                  </a:ext>
                </a:extLst>
              </p:cNvPr>
              <p:cNvCxnSpPr>
                <a:cxnSpLocks/>
              </p:cNvCxnSpPr>
              <p:nvPr/>
            </p:nvCxnSpPr>
            <p:spPr>
              <a:xfrm rot="2400000" flipH="1" flipV="1">
                <a:off x="3552992" y="5270300"/>
                <a:ext cx="1084709" cy="150063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ál 35">
                <a:extLst>
                  <a:ext uri="{FF2B5EF4-FFF2-40B4-BE49-F238E27FC236}">
                    <a16:creationId xmlns:a16="http://schemas.microsoft.com/office/drawing/2014/main" id="{79D6E1E1-5143-4C16-A648-EA6FB115B381}"/>
                  </a:ext>
                </a:extLst>
              </p:cNvPr>
              <p:cNvSpPr/>
              <p:nvPr/>
            </p:nvSpPr>
            <p:spPr>
              <a:xfrm rot="19983140">
                <a:off x="6444781" y="3041730"/>
                <a:ext cx="1202296" cy="1842426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C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  <p:sp>
            <p:nvSpPr>
              <p:cNvPr id="39" name="TextovéPole 38">
                <a:extLst>
                  <a:ext uri="{FF2B5EF4-FFF2-40B4-BE49-F238E27FC236}">
                    <a16:creationId xmlns:a16="http://schemas.microsoft.com/office/drawing/2014/main" id="{CBA8172B-4677-4CD5-AAA4-3F3266FC950B}"/>
                  </a:ext>
                </a:extLst>
              </p:cNvPr>
              <p:cNvSpPr txBox="1"/>
              <p:nvPr/>
            </p:nvSpPr>
            <p:spPr>
              <a:xfrm>
                <a:off x="6477395" y="3684852"/>
                <a:ext cx="1133233" cy="430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cs-CZ" b="1" dirty="0">
                    <a:ln>
                      <a:solidFill>
                        <a:schemeClr val="tx1"/>
                      </a:solidFill>
                    </a:ln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RIZIKO</a:t>
                </a:r>
              </a:p>
            </p:txBody>
          </p:sp>
          <p:sp>
            <p:nvSpPr>
              <p:cNvPr id="40" name="Výbuch: čtrnácticípý 39">
                <a:extLst>
                  <a:ext uri="{FF2B5EF4-FFF2-40B4-BE49-F238E27FC236}">
                    <a16:creationId xmlns:a16="http://schemas.microsoft.com/office/drawing/2014/main" id="{F47C52F7-B64C-40A6-8F82-AA1640DD6557}"/>
                  </a:ext>
                </a:extLst>
              </p:cNvPr>
              <p:cNvSpPr>
                <a:spLocks noChangeAspect="1"/>
              </p:cNvSpPr>
              <p:nvPr/>
            </p:nvSpPr>
            <p:spPr>
              <a:xfrm rot="6120000">
                <a:off x="437177" y="4200467"/>
                <a:ext cx="2667910" cy="2771737"/>
              </a:xfrm>
              <a:prstGeom prst="irregularSeal2">
                <a:avLst/>
              </a:prstGeom>
              <a:solidFill>
                <a:srgbClr val="CC3300"/>
              </a:solidFill>
              <a:ln>
                <a:solidFill>
                  <a:srgbClr val="CC33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cs-CZ" dirty="0"/>
              </a:p>
            </p:txBody>
          </p:sp>
        </p:grpSp>
        <p:sp>
          <p:nvSpPr>
            <p:cNvPr id="45" name="Výbuch: čtrnácticípý 44">
              <a:extLst>
                <a:ext uri="{FF2B5EF4-FFF2-40B4-BE49-F238E27FC236}">
                  <a16:creationId xmlns:a16="http://schemas.microsoft.com/office/drawing/2014/main" id="{609204FE-5EF1-4018-B549-BD1B6958BAF6}"/>
                </a:ext>
              </a:extLst>
            </p:cNvPr>
            <p:cNvSpPr>
              <a:spLocks noChangeAspect="1"/>
            </p:cNvSpPr>
            <p:nvPr/>
          </p:nvSpPr>
          <p:spPr>
            <a:xfrm rot="6120000">
              <a:off x="3037990" y="3456929"/>
              <a:ext cx="1420712" cy="1476000"/>
            </a:xfrm>
            <a:prstGeom prst="irregularSeal2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cs-CZ" dirty="0"/>
            </a:p>
          </p:txBody>
        </p:sp>
      </p:grpSp>
      <p:sp>
        <p:nvSpPr>
          <p:cNvPr id="48" name="TextovéPole 47">
            <a:extLst>
              <a:ext uri="{FF2B5EF4-FFF2-40B4-BE49-F238E27FC236}">
                <a16:creationId xmlns:a16="http://schemas.microsoft.com/office/drawing/2014/main" id="{11FE5F1F-20F7-4455-A2BE-F601A8BF466B}"/>
              </a:ext>
            </a:extLst>
          </p:cNvPr>
          <p:cNvSpPr txBox="1"/>
          <p:nvPr/>
        </p:nvSpPr>
        <p:spPr>
          <a:xfrm>
            <a:off x="2928832" y="3888905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rgbClr val="002060"/>
                </a:solidFill>
              </a:rPr>
              <a:t>NEBEZPEČÍ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FA2CF10-34B4-4E8B-9038-0BA842BFB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324141"/>
            <a:ext cx="7488063" cy="1448675"/>
          </a:xfrm>
        </p:spPr>
        <p:txBody>
          <a:bodyPr/>
          <a:lstStyle/>
          <a:p>
            <a:pPr eaLnBrk="1" hangingPunct="1"/>
            <a:r>
              <a:rPr lang="cs-CZ" altLang="cs-CZ" sz="2000" b="0" dirty="0"/>
              <a:t>Obsluha a práce na elektrických zařízeních - vliv lidského faktoru na bezpečnost – odborná způsobilost</a:t>
            </a:r>
            <a:br>
              <a:rPr lang="cs-CZ" altLang="cs-CZ" sz="2000" b="0" dirty="0"/>
            </a:br>
            <a:br>
              <a:rPr lang="cs-CZ" altLang="cs-CZ" sz="2000" b="0" dirty="0"/>
            </a:br>
            <a:r>
              <a:rPr lang="cs-CZ" altLang="cs-CZ" sz="1400" b="0" dirty="0"/>
              <a:t>Nařízení vlády č. 194/2022 Sb., o požadavcích na odbornou způsobilost k výkonu činnosti na elektrických zařízeních a na odbornou způsobilost v elektrotechnice</a:t>
            </a:r>
          </a:p>
        </p:txBody>
      </p:sp>
      <p:graphicFrame>
        <p:nvGraphicFramePr>
          <p:cNvPr id="5" name="Tabulka 5">
            <a:extLst>
              <a:ext uri="{FF2B5EF4-FFF2-40B4-BE49-F238E27FC236}">
                <a16:creationId xmlns:a16="http://schemas.microsoft.com/office/drawing/2014/main" id="{F405FD61-6CA2-4F51-D46E-8A6E4EF344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50030"/>
              </p:ext>
            </p:extLst>
          </p:nvPr>
        </p:nvGraphicFramePr>
        <p:xfrm>
          <a:off x="539552" y="2132856"/>
          <a:ext cx="8280000" cy="4298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0000">
                  <a:extLst>
                    <a:ext uri="{9D8B030D-6E8A-4147-A177-3AD203B41FA5}">
                      <a16:colId xmlns:a16="http://schemas.microsoft.com/office/drawing/2014/main" val="1257585976"/>
                    </a:ext>
                  </a:extLst>
                </a:gridCol>
                <a:gridCol w="2070000">
                  <a:extLst>
                    <a:ext uri="{9D8B030D-6E8A-4147-A177-3AD203B41FA5}">
                      <a16:colId xmlns:a16="http://schemas.microsoft.com/office/drawing/2014/main" val="2052948388"/>
                    </a:ext>
                  </a:extLst>
                </a:gridCol>
                <a:gridCol w="2070000">
                  <a:extLst>
                    <a:ext uri="{9D8B030D-6E8A-4147-A177-3AD203B41FA5}">
                      <a16:colId xmlns:a16="http://schemas.microsoft.com/office/drawing/2014/main" val="2154928427"/>
                    </a:ext>
                  </a:extLst>
                </a:gridCol>
              </a:tblGrid>
              <a:tr h="359857">
                <a:tc>
                  <a:txBody>
                    <a:bodyPr/>
                    <a:lstStyle/>
                    <a:p>
                      <a:r>
                        <a:rPr lang="cs-CZ" sz="1400" b="0" dirty="0">
                          <a:solidFill>
                            <a:schemeClr val="tx1"/>
                          </a:solidFill>
                        </a:rPr>
                        <a:t>Vyhláška 50 - zrušená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cs-CZ" sz="1400" b="0" dirty="0">
                          <a:solidFill>
                            <a:schemeClr val="tx1"/>
                          </a:solidFill>
                        </a:rPr>
                        <a:t>Nová legislativa - </a:t>
                      </a:r>
                      <a:r>
                        <a:rPr lang="cs-CZ" altLang="cs-CZ" sz="1400" b="0" dirty="0">
                          <a:solidFill>
                            <a:schemeClr val="tx1"/>
                          </a:solidFill>
                        </a:rPr>
                        <a:t>Nařízení vlády č. 194/2022 Sb.</a:t>
                      </a:r>
                      <a:endParaRPr lang="cs-CZ" sz="14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01863"/>
                  </a:ext>
                </a:extLst>
              </a:tr>
              <a:tr h="359857">
                <a:tc>
                  <a:txBody>
                    <a:bodyPr/>
                    <a:lstStyle/>
                    <a:p>
                      <a:r>
                        <a:rPr lang="en-US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3 pracovníci seznámení</a:t>
                      </a:r>
                      <a:endParaRPr lang="cs-CZ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US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3 osoba školená (seznámená)</a:t>
                      </a:r>
                      <a:endParaRPr lang="cs-CZ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910630"/>
                  </a:ext>
                </a:extLst>
              </a:tr>
              <a:tr h="359857">
                <a:tc>
                  <a:txBody>
                    <a:bodyPr/>
                    <a:lstStyle/>
                    <a:p>
                      <a:r>
                        <a:rPr lang="en-US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4 pracovníci poučení</a:t>
                      </a:r>
                      <a:endParaRPr lang="cs-CZ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4 osoba poučená</a:t>
                      </a:r>
                      <a:endParaRPr lang="cs-CZ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59352"/>
                  </a:ext>
                </a:extLst>
              </a:tr>
              <a:tr h="359857">
                <a:tc>
                  <a:txBody>
                    <a:bodyPr/>
                    <a:lstStyle/>
                    <a:p>
                      <a:r>
                        <a:rPr lang="en-US" altLang="cs-CZ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5 pracovníci znalí</a:t>
                      </a:r>
                      <a:endParaRPr lang="cs-CZ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r>
                        <a:rPr 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§ 5 osoba znalá</a:t>
                      </a:r>
                    </a:p>
                  </a:txBody>
                  <a:tcPr anchor="ctr"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US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 6 o</a:t>
                      </a:r>
                      <a:r>
                        <a:rPr lang="pl-PL" sz="1400" dirty="0"/>
                        <a:t>soba znalá pro samostatnou činnost - „elektrotechnik“</a:t>
                      </a:r>
                      <a:endParaRPr lang="cs-CZ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0315400"/>
                  </a:ext>
                </a:extLst>
              </a:tr>
              <a:tr h="359857">
                <a:tc>
                  <a:txBody>
                    <a:bodyPr/>
                    <a:lstStyle/>
                    <a:p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6 pracovníci pro samostatnou činnost</a:t>
                      </a:r>
                      <a:endParaRPr lang="cs-CZ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03868"/>
                  </a:ext>
                </a:extLst>
              </a:tr>
              <a:tr h="359857">
                <a:tc>
                  <a:txBody>
                    <a:bodyPr/>
                    <a:lstStyle/>
                    <a:p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7 pracovníci pro řízení činnosti</a:t>
                      </a:r>
                      <a:endParaRPr lang="cs-CZ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cs-CZ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7 o</a:t>
                      </a:r>
                      <a:r>
                        <a:rPr lang="cs-CZ" sz="1400" dirty="0"/>
                        <a:t>soba znalá pro řízení činnosti – „vedoucí elektrotechnik“ </a:t>
                      </a:r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4191552"/>
                  </a:ext>
                </a:extLst>
              </a:tr>
              <a:tr h="516334">
                <a:tc>
                  <a:txBody>
                    <a:bodyPr/>
                    <a:lstStyle/>
                    <a:p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8 pracovníci pro řízení činnosti prováděné dodavatelským způsobem a pracovníci</a:t>
                      </a:r>
                      <a:br>
                        <a:rPr lang="cs-CZ" altLang="cs-CZ" sz="1400" dirty="0">
                          <a:cs typeface="Arial" panose="020B0604020202020204" pitchFamily="34" charset="0"/>
                        </a:rPr>
                      </a:b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pro</a:t>
                      </a:r>
                      <a:r>
                        <a:rPr lang="cs-CZ" altLang="cs-CZ" sz="1400" dirty="0">
                          <a:solidFill>
                            <a:srgbClr val="FFFF00"/>
                          </a:solidFill>
                          <a:cs typeface="Arial" panose="020B0604020202020204" pitchFamily="34" charset="0"/>
                        </a:rPr>
                        <a:t> 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řízení provozu</a:t>
                      </a:r>
                      <a:endParaRPr lang="cs-CZ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7969965"/>
                  </a:ext>
                </a:extLst>
              </a:tr>
              <a:tr h="359857">
                <a:tc>
                  <a:txBody>
                    <a:bodyPr/>
                    <a:lstStyle/>
                    <a:p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9 pracovníci pro provádění revizí</a:t>
                      </a:r>
                      <a:endParaRPr lang="cs-CZ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cs-CZ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8 revizní technik</a:t>
                      </a:r>
                      <a:endParaRPr lang="cs-CZ" sz="1400" dirty="0"/>
                    </a:p>
                  </a:txBody>
                  <a:tcPr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3875358"/>
                  </a:ext>
                </a:extLst>
              </a:tr>
              <a:tr h="516334">
                <a:tc>
                  <a:txBody>
                    <a:bodyPr/>
                    <a:lstStyle/>
                    <a:p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10 pracovníci pro samostatné projektování a pracovníci pro řízení projektování</a:t>
                      </a:r>
                      <a:endParaRPr lang="cs-CZ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7 o</a:t>
                      </a:r>
                      <a:r>
                        <a:rPr lang="cs-CZ" sz="1400" dirty="0"/>
                        <a:t>soba znalá pro řízení činnosti – „vedoucí elektrotechnik“ </a:t>
                      </a:r>
                    </a:p>
                  </a:txBody>
                  <a:tcP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982468"/>
                  </a:ext>
                </a:extLst>
              </a:tr>
              <a:tr h="516334">
                <a:tc>
                  <a:txBody>
                    <a:bodyPr/>
                    <a:lstStyle/>
                    <a:p>
                      <a:r>
                        <a:rPr lang="en-US" altLang="cs-CZ" sz="1400" dirty="0">
                          <a:cs typeface="Arial" panose="020B0604020202020204" pitchFamily="34" charset="0"/>
                        </a:rPr>
                        <a:t>§</a:t>
                      </a:r>
                      <a:r>
                        <a:rPr lang="cs-CZ" altLang="cs-CZ" sz="1400" dirty="0">
                          <a:cs typeface="Arial" panose="020B0604020202020204" pitchFamily="34" charset="0"/>
                        </a:rPr>
                        <a:t> 11 zvláštní případy (pracovníci vědeckých ústavů, asistenti v laboratořích škol, učitelé)</a:t>
                      </a:r>
                      <a:endParaRPr lang="cs-CZ" sz="14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cs-CZ" sz="1400" dirty="0"/>
                        <a:t>Obsaženo v „elektrotechnik“ a „vedoucí elektrotechnik“.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25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544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C8F4842-8393-4C83-A76B-4DAAB172C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7543800" cy="652463"/>
          </a:xfrm>
        </p:spPr>
        <p:txBody>
          <a:bodyPr/>
          <a:lstStyle/>
          <a:p>
            <a:pPr eaLnBrk="1" hangingPunct="1"/>
            <a:r>
              <a:rPr lang="cs-CZ" altLang="cs-CZ" sz="2800" b="0" dirty="0"/>
              <a:t>Druhy sítí - TN, TT, IT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1AECD3B-F65F-45C3-BB02-A7026E119FA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75003" y="1412777"/>
            <a:ext cx="8229445" cy="4536504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cs-CZ" altLang="cs-CZ" sz="1600" dirty="0"/>
              <a:t>Způsob uzemnění sítě: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cs-CZ" altLang="cs-CZ" sz="1600" dirty="0"/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cs-CZ" altLang="cs-CZ" sz="1600" u="sng" dirty="0">
                <a:solidFill>
                  <a:srgbClr val="7300E6"/>
                </a:solidFill>
              </a:rPr>
              <a:t>První písmeno</a:t>
            </a:r>
            <a:r>
              <a:rPr lang="cs-CZ" altLang="cs-CZ" sz="1600" dirty="0">
                <a:solidFill>
                  <a:srgbClr val="7300E6"/>
                </a:solidFill>
              </a:rPr>
              <a:t> vyjadřuje vztah sítě (pracovních vodičů a živých částí) a uzemnění</a:t>
            </a:r>
          </a:p>
          <a:p>
            <a:pPr marL="0" indent="0" eaLnBrk="1" hangingPunct="1">
              <a:spcBef>
                <a:spcPts val="1200"/>
              </a:spcBef>
              <a:spcAft>
                <a:spcPts val="0"/>
              </a:spcAft>
              <a:buNone/>
            </a:pPr>
            <a:r>
              <a:rPr lang="cs-CZ" altLang="cs-CZ" sz="1600" dirty="0">
                <a:solidFill>
                  <a:srgbClr val="7300E6"/>
                </a:solidFill>
              </a:rPr>
              <a:t>T - jeden bod sítě (obvykle uzel zdroje) je přímo spojen se zemí 		</a:t>
            </a:r>
          </a:p>
          <a:p>
            <a:pPr marL="0" indent="0" eaLnBrk="1" hangingPunct="1">
              <a:spcBef>
                <a:spcPts val="1200"/>
              </a:spcBef>
              <a:spcAft>
                <a:spcPts val="0"/>
              </a:spcAft>
              <a:buNone/>
            </a:pPr>
            <a:r>
              <a:rPr lang="cs-CZ" altLang="cs-CZ" sz="1600" dirty="0">
                <a:solidFill>
                  <a:srgbClr val="7300E6"/>
                </a:solidFill>
              </a:rPr>
              <a:t>I - všechny živé části sítě jsou od země buď odděleny nebo je jeden bod sítě spojen</a:t>
            </a:r>
            <a:br>
              <a:rPr lang="cs-CZ" altLang="cs-CZ" sz="1600" dirty="0">
                <a:solidFill>
                  <a:srgbClr val="7300E6"/>
                </a:solidFill>
              </a:rPr>
            </a:br>
            <a:r>
              <a:rPr lang="cs-CZ" altLang="cs-CZ" sz="1600" dirty="0">
                <a:solidFill>
                  <a:srgbClr val="7300E6"/>
                </a:solidFill>
              </a:rPr>
              <a:t>se zemí přes velkou impedanci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cs-CZ" altLang="cs-CZ" sz="1600" dirty="0">
              <a:solidFill>
                <a:srgbClr val="7300E6"/>
              </a:solidFill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cs-CZ" altLang="cs-CZ" sz="1600" u="sng" dirty="0">
                <a:solidFill>
                  <a:srgbClr val="7300E6"/>
                </a:solidFill>
              </a:rPr>
              <a:t>Druhé písmeno</a:t>
            </a:r>
            <a:r>
              <a:rPr lang="cs-CZ" altLang="cs-CZ" sz="1600" dirty="0">
                <a:solidFill>
                  <a:srgbClr val="7300E6"/>
                </a:solidFill>
              </a:rPr>
              <a:t> vyjadřuje vztah neživých částí v rozvodu a uzemnění</a:t>
            </a:r>
          </a:p>
          <a:p>
            <a:pPr marL="0" indent="0" eaLnBrk="1" hangingPunct="1">
              <a:spcBef>
                <a:spcPts val="1200"/>
              </a:spcBef>
              <a:spcAft>
                <a:spcPts val="0"/>
              </a:spcAft>
              <a:buNone/>
            </a:pPr>
            <a:r>
              <a:rPr lang="cs-CZ" altLang="cs-CZ" sz="1600" dirty="0">
                <a:solidFill>
                  <a:srgbClr val="7300E6"/>
                </a:solidFill>
              </a:rPr>
              <a:t>T - neživé části jsou přímo spojeny se zemí</a:t>
            </a:r>
          </a:p>
          <a:p>
            <a:pPr marL="0" indent="0" eaLnBrk="1" hangingPunct="1">
              <a:spcBef>
                <a:spcPts val="1200"/>
              </a:spcBef>
              <a:spcAft>
                <a:spcPts val="0"/>
              </a:spcAft>
              <a:buNone/>
            </a:pPr>
            <a:r>
              <a:rPr lang="cs-CZ" altLang="cs-CZ" sz="1600" dirty="0">
                <a:solidFill>
                  <a:srgbClr val="7300E6"/>
                </a:solidFill>
              </a:rPr>
              <a:t>N - neživé části jsou přímo spojeny s uzemněným bodem sítě prostřednictvím ochranného vodiče PE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q"/>
            </a:pPr>
            <a:endParaRPr lang="cs-CZ" altLang="cs-CZ" sz="1600" dirty="0"/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cs-CZ" altLang="cs-CZ" sz="1600" dirty="0"/>
              <a:t>Další písmeno, pokud je uvedeno, vyjadřuje uspořádání středního a ochranného vodiče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cs-CZ" altLang="cs-CZ" sz="1600" dirty="0"/>
              <a:t>	S - ochranný a nulový vodič jsou vedeny odděleně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cs-CZ" altLang="cs-CZ" sz="1600" dirty="0"/>
              <a:t>	C - funkce ochranného a nulového vodiče je sloučena do jednoho vodiče PEN</a:t>
            </a:r>
          </a:p>
          <a:p>
            <a:pPr ea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</a:pPr>
            <a:endParaRPr lang="cs-CZ" altLang="cs-CZ" sz="14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cs-CZ" altLang="cs-CZ" sz="1400" i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7D3B42B-F2F1-432A-A753-615919324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246" y="190864"/>
            <a:ext cx="7543800" cy="930498"/>
          </a:xfrm>
        </p:spPr>
        <p:txBody>
          <a:bodyPr/>
          <a:lstStyle/>
          <a:p>
            <a:pPr eaLnBrk="1" hangingPunct="1"/>
            <a:r>
              <a:rPr lang="cs-CZ" altLang="cs-CZ" sz="3200" b="0" dirty="0">
                <a:solidFill>
                  <a:srgbClr val="7300E6"/>
                </a:solidFill>
              </a:rPr>
              <a:t>Typy napájecích sítí: TN-C</a:t>
            </a:r>
          </a:p>
        </p:txBody>
      </p:sp>
      <p:sp>
        <p:nvSpPr>
          <p:cNvPr id="34819" name="Rectangle 7">
            <a:extLst>
              <a:ext uri="{FF2B5EF4-FFF2-40B4-BE49-F238E27FC236}">
                <a16:creationId xmlns:a16="http://schemas.microsoft.com/office/drawing/2014/main" id="{1EC619AD-6C80-4814-A3CE-B530DC489657}"/>
              </a:ext>
            </a:extLst>
          </p:cNvPr>
          <p:cNvSpPr>
            <a:spLocks noGrp="1" noChangeArrowheads="1"/>
          </p:cNvSpPr>
          <p:nvPr>
            <p:ph sz="quarter" idx="3"/>
          </p:nvPr>
        </p:nvSpPr>
        <p:spPr>
          <a:xfrm>
            <a:off x="296246" y="1174925"/>
            <a:ext cx="7687918" cy="1539061"/>
          </a:xfrm>
        </p:spPr>
        <p:txBody>
          <a:bodyPr/>
          <a:lstStyle/>
          <a:p>
            <a:pPr marL="0" indent="0" eaLnBrk="1" hangingPunct="1">
              <a:buSzTx/>
              <a:buNone/>
            </a:pPr>
            <a:r>
              <a:rPr lang="cs-CZ" altLang="cs-CZ" sz="1600" dirty="0"/>
              <a:t>Síť TN-C je</a:t>
            </a:r>
            <a:r>
              <a:rPr lang="cs-CZ" altLang="cs-CZ" sz="1600" b="1" dirty="0"/>
              <a:t> </a:t>
            </a:r>
            <a:r>
              <a:rPr lang="cs-CZ" altLang="cs-CZ" sz="1600" dirty="0"/>
              <a:t>charakterizovaná spojením neživých částí s uzemněným bodem sítě prostřednictvím ochranného vodiče. Na obrázku je klasické provedení sítě TN-C, které se v ČR uplatňovalo v běžné výstavbě do r. 1995. V těchto sítích, které se nadále provozují, se pro funkci ochranného vodiče PE využívá nulový vodič sítě N. Označení tohoto vodiče je tedy PEN. Takto provedené sítě TN využívají jeden vodič s kombinovanou funkcí, proto se označují TN-C.</a:t>
            </a:r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D3B7D3B-4261-CEE6-E81D-E59AEFE54F5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B9B9F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733550" y="2852936"/>
            <a:ext cx="5676900" cy="34766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261A4F2-EB34-4B9C-AE77-B6C55F784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cs-CZ" altLang="cs-CZ" sz="2800" b="0" dirty="0">
                <a:solidFill>
                  <a:srgbClr val="7300E6"/>
                </a:solidFill>
              </a:rPr>
              <a:t>Typy napájecích sítí: TN-S</a:t>
            </a:r>
            <a:endParaRPr lang="cs-CZ" altLang="cs-CZ" sz="2800" dirty="0">
              <a:solidFill>
                <a:srgbClr val="FF0000"/>
              </a:solidFill>
            </a:endParaRPr>
          </a:p>
        </p:txBody>
      </p:sp>
      <p:sp>
        <p:nvSpPr>
          <p:cNvPr id="35844" name="Rectangle 7">
            <a:extLst>
              <a:ext uri="{FF2B5EF4-FFF2-40B4-BE49-F238E27FC236}">
                <a16:creationId xmlns:a16="http://schemas.microsoft.com/office/drawing/2014/main" id="{9C343B5B-54B1-4F12-B264-B9A8CC548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58974"/>
            <a:ext cx="72009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800" dirty="0"/>
              <a:t>Síť TN-S - v celé síti jsou vedeny ochranný a nulový vodič jako dva samostatné vodiče</a:t>
            </a:r>
          </a:p>
        </p:txBody>
      </p:sp>
      <p:pic>
        <p:nvPicPr>
          <p:cNvPr id="15" name="Obrázek 14">
            <a:extLst>
              <a:ext uri="{FF2B5EF4-FFF2-40B4-BE49-F238E27FC236}">
                <a16:creationId xmlns:a16="http://schemas.microsoft.com/office/drawing/2014/main" id="{7B2AF993-1472-A04C-5111-899DC682BBF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B9B9FF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627187" y="2346641"/>
            <a:ext cx="5457825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6978779E-018B-4001-9343-C88F8EF26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188913"/>
            <a:ext cx="7543800" cy="436562"/>
          </a:xfrm>
        </p:spPr>
        <p:txBody>
          <a:bodyPr/>
          <a:lstStyle/>
          <a:p>
            <a:pPr eaLnBrk="1" hangingPunct="1"/>
            <a:r>
              <a:rPr lang="cs-CZ" altLang="cs-CZ" sz="2400" b="0" dirty="0"/>
              <a:t>Zásuvky střídavého rozvodu podle třídy zařízení</a:t>
            </a:r>
          </a:p>
        </p:txBody>
      </p:sp>
      <p:sp>
        <p:nvSpPr>
          <p:cNvPr id="44036" name="Obdélník 3">
            <a:extLst>
              <a:ext uri="{FF2B5EF4-FFF2-40B4-BE49-F238E27FC236}">
                <a16:creationId xmlns:a16="http://schemas.microsoft.com/office/drawing/2014/main" id="{4BE7BA05-8E2F-4209-9B8F-901CD01CE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25475"/>
            <a:ext cx="84966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cs-CZ" altLang="cs-CZ" sz="1600" dirty="0">
                <a:latin typeface="+mn-lt"/>
              </a:rPr>
              <a:t>Připojování jednofázových spotřebičů pohyblivými přívody a </a:t>
            </a:r>
            <a:r>
              <a:rPr lang="pt-BR" altLang="cs-CZ" sz="1600" dirty="0">
                <a:latin typeface="+mn-lt"/>
              </a:rPr>
              <a:t>zásuvkami</a:t>
            </a:r>
            <a:r>
              <a:rPr lang="cs-CZ" altLang="cs-CZ" sz="1600" dirty="0">
                <a:latin typeface="+mn-lt"/>
              </a:rPr>
              <a:t> </a:t>
            </a:r>
            <a:r>
              <a:rPr lang="pt-BR" altLang="cs-CZ" sz="1600" dirty="0">
                <a:latin typeface="+mn-lt"/>
              </a:rPr>
              <a:t>k sítím TN-C (a,b,c) a TN-S (d,e)</a:t>
            </a:r>
            <a:r>
              <a:rPr lang="cs-CZ" altLang="cs-CZ" sz="1600" dirty="0">
                <a:latin typeface="+mn-lt"/>
              </a:rPr>
              <a:t>.</a:t>
            </a:r>
          </a:p>
        </p:txBody>
      </p:sp>
      <p:graphicFrame>
        <p:nvGraphicFramePr>
          <p:cNvPr id="6" name="Tabulka 6">
            <a:extLst>
              <a:ext uri="{FF2B5EF4-FFF2-40B4-BE49-F238E27FC236}">
                <a16:creationId xmlns:a16="http://schemas.microsoft.com/office/drawing/2014/main" id="{9F985022-C650-4E3E-8CD6-9E6A31195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865056"/>
              </p:ext>
            </p:extLst>
          </p:nvPr>
        </p:nvGraphicFramePr>
        <p:xfrm>
          <a:off x="373832" y="5038662"/>
          <a:ext cx="5318246" cy="88854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1425600">
                  <a:extLst>
                    <a:ext uri="{9D8B030D-6E8A-4147-A177-3AD203B41FA5}">
                      <a16:colId xmlns:a16="http://schemas.microsoft.com/office/drawing/2014/main" val="2846936650"/>
                    </a:ext>
                  </a:extLst>
                </a:gridCol>
                <a:gridCol w="1274192">
                  <a:extLst>
                    <a:ext uri="{9D8B030D-6E8A-4147-A177-3AD203B41FA5}">
                      <a16:colId xmlns:a16="http://schemas.microsoft.com/office/drawing/2014/main" val="2211527695"/>
                    </a:ext>
                  </a:extLst>
                </a:gridCol>
                <a:gridCol w="1322310">
                  <a:extLst>
                    <a:ext uri="{9D8B030D-6E8A-4147-A177-3AD203B41FA5}">
                      <a16:colId xmlns:a16="http://schemas.microsoft.com/office/drawing/2014/main" val="52300099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680304298"/>
                    </a:ext>
                  </a:extLst>
                </a:gridCol>
              </a:tblGrid>
              <a:tr h="370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400" b="0" dirty="0">
                          <a:solidFill>
                            <a:srgbClr val="002060"/>
                          </a:solidFill>
                        </a:rPr>
                        <a:t>Třída 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400" b="0" dirty="0">
                          <a:solidFill>
                            <a:srgbClr val="002060"/>
                          </a:solidFill>
                        </a:rPr>
                        <a:t>Třída 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400" b="0" dirty="0">
                          <a:solidFill>
                            <a:srgbClr val="002060"/>
                          </a:solidFill>
                        </a:rPr>
                        <a:t>Třída 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cs-CZ" sz="1400" b="0" dirty="0">
                          <a:solidFill>
                            <a:srgbClr val="002060"/>
                          </a:solidFill>
                        </a:rPr>
                        <a:t>Třída II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164610"/>
                  </a:ext>
                </a:extLst>
              </a:tr>
              <a:tr h="514795">
                <a:tc gridSpan="2">
                  <a:txBody>
                    <a:bodyPr/>
                    <a:lstStyle/>
                    <a:p>
                      <a:r>
                        <a:rPr lang="cs-CZ" sz="1400" b="0" dirty="0">
                          <a:solidFill>
                            <a:srgbClr val="002060"/>
                          </a:solidFill>
                        </a:rPr>
                        <a:t>Pouze ve stávajících zařízeních podle ČSN 34 1010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cs-CZ" sz="1400" b="0" dirty="0">
                          <a:solidFill>
                            <a:srgbClr val="002060"/>
                          </a:solidFill>
                        </a:rPr>
                        <a:t>Předepsané pro nová zařízení podle ČSN 33 2000-4-41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cs-C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737612"/>
                  </a:ext>
                </a:extLst>
              </a:tr>
            </a:tbl>
          </a:graphicData>
        </a:graphic>
      </p:graphicFrame>
      <p:grpSp>
        <p:nvGrpSpPr>
          <p:cNvPr id="5" name="Skupina 4">
            <a:extLst>
              <a:ext uri="{FF2B5EF4-FFF2-40B4-BE49-F238E27FC236}">
                <a16:creationId xmlns:a16="http://schemas.microsoft.com/office/drawing/2014/main" id="{55A6FE94-AAFA-4547-391A-590F8317E016}"/>
              </a:ext>
            </a:extLst>
          </p:cNvPr>
          <p:cNvGrpSpPr/>
          <p:nvPr/>
        </p:nvGrpSpPr>
        <p:grpSpPr>
          <a:xfrm>
            <a:off x="5953747" y="1322427"/>
            <a:ext cx="2670896" cy="2304000"/>
            <a:chOff x="6257880" y="1210250"/>
            <a:chExt cx="2670896" cy="2304000"/>
          </a:xfrm>
        </p:grpSpPr>
        <p:pic>
          <p:nvPicPr>
            <p:cNvPr id="2052" name="Picture 4" descr="Solight zástrčka lomená, IP20, bílá | SOLIGHT">
              <a:extLst>
                <a:ext uri="{FF2B5EF4-FFF2-40B4-BE49-F238E27FC236}">
                  <a16:creationId xmlns:a16="http://schemas.microsoft.com/office/drawing/2014/main" id="{95B1DE19-BC22-4453-AB62-C9EDE1279D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7880" y="1210250"/>
              <a:ext cx="2304000" cy="2304000"/>
            </a:xfrm>
            <a:prstGeom prst="rect">
              <a:avLst/>
            </a:prstGeom>
            <a:noFill/>
            <a:ln w="5715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ovéPole 2">
              <a:extLst>
                <a:ext uri="{FF2B5EF4-FFF2-40B4-BE49-F238E27FC236}">
                  <a16:creationId xmlns:a16="http://schemas.microsoft.com/office/drawing/2014/main" id="{40198A4F-B8DF-7EC5-6990-BC46C3271EBC}"/>
                </a:ext>
              </a:extLst>
            </p:cNvPr>
            <p:cNvSpPr txBox="1"/>
            <p:nvPr/>
          </p:nvSpPr>
          <p:spPr>
            <a:xfrm>
              <a:off x="7731210" y="1641069"/>
              <a:ext cx="1197566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cs-CZ" sz="2400" dirty="0">
                  <a:solidFill>
                    <a:srgbClr val="7300E6"/>
                  </a:solidFill>
                </a:rPr>
                <a:t>Třída I</a:t>
              </a:r>
            </a:p>
          </p:txBody>
        </p:sp>
      </p:grpSp>
      <p:grpSp>
        <p:nvGrpSpPr>
          <p:cNvPr id="2" name="Skupina 1">
            <a:extLst>
              <a:ext uri="{FF2B5EF4-FFF2-40B4-BE49-F238E27FC236}">
                <a16:creationId xmlns:a16="http://schemas.microsoft.com/office/drawing/2014/main" id="{0C96E7E9-AEB2-F890-3150-0B7B900FDEFA}"/>
              </a:ext>
            </a:extLst>
          </p:cNvPr>
          <p:cNvGrpSpPr/>
          <p:nvPr/>
        </p:nvGrpSpPr>
        <p:grpSpPr>
          <a:xfrm>
            <a:off x="5933678" y="3839192"/>
            <a:ext cx="3027770" cy="2304000"/>
            <a:chOff x="6026250" y="3797407"/>
            <a:chExt cx="3027770" cy="2304000"/>
          </a:xfrm>
        </p:grpSpPr>
        <p:pic>
          <p:nvPicPr>
            <p:cNvPr id="12" name="Obrázek 11">
              <a:extLst>
                <a:ext uri="{FF2B5EF4-FFF2-40B4-BE49-F238E27FC236}">
                  <a16:creationId xmlns:a16="http://schemas.microsoft.com/office/drawing/2014/main" id="{0941A10B-8A37-43AE-B008-764EF5E690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26250" y="3797407"/>
              <a:ext cx="3027770" cy="2304000"/>
            </a:xfrm>
            <a:prstGeom prst="rect">
              <a:avLst/>
            </a:prstGeom>
            <a:ln w="57150">
              <a:noFill/>
            </a:ln>
          </p:spPr>
        </p:pic>
        <p:sp>
          <p:nvSpPr>
            <p:cNvPr id="4" name="TextovéPole 3">
              <a:extLst>
                <a:ext uri="{FF2B5EF4-FFF2-40B4-BE49-F238E27FC236}">
                  <a16:creationId xmlns:a16="http://schemas.microsoft.com/office/drawing/2014/main" id="{249A30E0-CEC2-A09C-184C-EFEE278199A7}"/>
                </a:ext>
              </a:extLst>
            </p:cNvPr>
            <p:cNvSpPr txBox="1"/>
            <p:nvPr/>
          </p:nvSpPr>
          <p:spPr>
            <a:xfrm>
              <a:off x="7034247" y="4606812"/>
              <a:ext cx="1269574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cs-CZ" sz="2400" dirty="0">
                  <a:solidFill>
                    <a:srgbClr val="7300E6"/>
                  </a:solidFill>
                </a:rPr>
                <a:t>Třída II</a:t>
              </a:r>
            </a:p>
          </p:txBody>
        </p:sp>
      </p:grpSp>
      <p:pic>
        <p:nvPicPr>
          <p:cNvPr id="7" name="Obrázek 6">
            <a:extLst>
              <a:ext uri="{FF2B5EF4-FFF2-40B4-BE49-F238E27FC236}">
                <a16:creationId xmlns:a16="http://schemas.microsoft.com/office/drawing/2014/main" id="{ED56A7D8-7B49-0D23-B638-DADCC4BE4A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" y="1375065"/>
            <a:ext cx="5387738" cy="37351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07C07C68-22C1-4A9D-827B-E33A63E65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4019" y="532899"/>
            <a:ext cx="7543800" cy="652463"/>
          </a:xfrm>
        </p:spPr>
        <p:txBody>
          <a:bodyPr/>
          <a:lstStyle/>
          <a:p>
            <a:pPr eaLnBrk="1" hangingPunct="1"/>
            <a:r>
              <a:rPr lang="cs-CZ" altLang="cs-CZ" sz="3600" b="0" dirty="0"/>
              <a:t>Vnější vlivy</a:t>
            </a:r>
          </a:p>
        </p:txBody>
      </p:sp>
      <p:sp>
        <p:nvSpPr>
          <p:cNvPr id="52227" name="Text Box 4">
            <a:extLst>
              <a:ext uri="{FF2B5EF4-FFF2-40B4-BE49-F238E27FC236}">
                <a16:creationId xmlns:a16="http://schemas.microsoft.com/office/drawing/2014/main" id="{99EA4A37-1992-44AB-951B-54A3F4C6E7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1052513"/>
            <a:ext cx="25923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400" dirty="0"/>
              <a:t>Kódování vnějších vlivů</a:t>
            </a:r>
          </a:p>
        </p:txBody>
      </p:sp>
      <p:sp>
        <p:nvSpPr>
          <p:cNvPr id="52228" name="Text Box 5">
            <a:extLst>
              <a:ext uri="{FF2B5EF4-FFF2-40B4-BE49-F238E27FC236}">
                <a16:creationId xmlns:a16="http://schemas.microsoft.com/office/drawing/2014/main" id="{679E0C01-C6D0-40E4-96E7-116CB9D93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773238"/>
            <a:ext cx="24479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400" dirty="0"/>
              <a:t>1. písmeno - všeobecná kategorie vnějšího vlivu</a:t>
            </a:r>
          </a:p>
        </p:txBody>
      </p:sp>
      <p:sp>
        <p:nvSpPr>
          <p:cNvPr id="52230" name="Rectangle 7">
            <a:extLst>
              <a:ext uri="{FF2B5EF4-FFF2-40B4-BE49-F238E27FC236}">
                <a16:creationId xmlns:a16="http://schemas.microsoft.com/office/drawing/2014/main" id="{D8DDA430-BCCB-401F-8595-435FFC509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81" y="1773238"/>
            <a:ext cx="2339971" cy="5762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800"/>
          </a:p>
        </p:txBody>
      </p:sp>
      <p:sp>
        <p:nvSpPr>
          <p:cNvPr id="52231" name="Text Box 9">
            <a:extLst>
              <a:ext uri="{FF2B5EF4-FFF2-40B4-BE49-F238E27FC236}">
                <a16:creationId xmlns:a16="http://schemas.microsoft.com/office/drawing/2014/main" id="{440B6D0F-92EA-4D17-ADE2-5E66C2291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1773238"/>
            <a:ext cx="2232025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400"/>
              <a:t>2. písmeno - povaha vnějšího vlivu</a:t>
            </a:r>
          </a:p>
        </p:txBody>
      </p:sp>
      <p:sp>
        <p:nvSpPr>
          <p:cNvPr id="52232" name="Rectangle 10">
            <a:extLst>
              <a:ext uri="{FF2B5EF4-FFF2-40B4-BE49-F238E27FC236}">
                <a16:creationId xmlns:a16="http://schemas.microsoft.com/office/drawing/2014/main" id="{78B0F740-E0D1-4C67-9D32-2C3BFC140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1773238"/>
            <a:ext cx="1800225" cy="5762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800"/>
          </a:p>
        </p:txBody>
      </p:sp>
      <p:sp>
        <p:nvSpPr>
          <p:cNvPr id="52233" name="Text Box 11">
            <a:extLst>
              <a:ext uri="{FF2B5EF4-FFF2-40B4-BE49-F238E27FC236}">
                <a16:creationId xmlns:a16="http://schemas.microsoft.com/office/drawing/2014/main" id="{AEDA995C-936E-43A3-9EB3-1C2AF87B5D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1773238"/>
            <a:ext cx="20875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400" dirty="0"/>
              <a:t>číslice - označuje třídu vnějšího vlivu</a:t>
            </a:r>
          </a:p>
        </p:txBody>
      </p:sp>
      <p:sp>
        <p:nvSpPr>
          <p:cNvPr id="52234" name="Rectangle 12">
            <a:extLst>
              <a:ext uri="{FF2B5EF4-FFF2-40B4-BE49-F238E27FC236}">
                <a16:creationId xmlns:a16="http://schemas.microsoft.com/office/drawing/2014/main" id="{DA800600-00BA-4360-A866-950E0231A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9019" y="1773238"/>
            <a:ext cx="1944688" cy="57626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cs-CZ" altLang="cs-CZ" sz="1800"/>
          </a:p>
        </p:txBody>
      </p:sp>
      <p:sp>
        <p:nvSpPr>
          <p:cNvPr id="52235" name="Line 13">
            <a:extLst>
              <a:ext uri="{FF2B5EF4-FFF2-40B4-BE49-F238E27FC236}">
                <a16:creationId xmlns:a16="http://schemas.microsoft.com/office/drawing/2014/main" id="{70045AE1-5946-40EB-85FD-AE0E9997D7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7813" y="1628775"/>
            <a:ext cx="554513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grpSp>
        <p:nvGrpSpPr>
          <p:cNvPr id="2" name="Skupina 1">
            <a:extLst>
              <a:ext uri="{FF2B5EF4-FFF2-40B4-BE49-F238E27FC236}">
                <a16:creationId xmlns:a16="http://schemas.microsoft.com/office/drawing/2014/main" id="{B3EAC2DA-6207-4578-B5CA-250A67F7E48A}"/>
              </a:ext>
            </a:extLst>
          </p:cNvPr>
          <p:cNvGrpSpPr/>
          <p:nvPr/>
        </p:nvGrpSpPr>
        <p:grpSpPr>
          <a:xfrm>
            <a:off x="1547813" y="981075"/>
            <a:ext cx="5545137" cy="792163"/>
            <a:chOff x="1547813" y="981075"/>
            <a:chExt cx="5545137" cy="792163"/>
          </a:xfrm>
        </p:grpSpPr>
        <p:sp>
          <p:nvSpPr>
            <p:cNvPr id="52229" name="Rectangle 6">
              <a:extLst>
                <a:ext uri="{FF2B5EF4-FFF2-40B4-BE49-F238E27FC236}">
                  <a16:creationId xmlns:a16="http://schemas.microsoft.com/office/drawing/2014/main" id="{1FF43CB1-8125-4D21-9053-5313288C7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981075"/>
              <a:ext cx="2447925" cy="50482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 sz="1800"/>
            </a:p>
          </p:txBody>
        </p:sp>
        <p:sp>
          <p:nvSpPr>
            <p:cNvPr id="52236" name="Line 14">
              <a:extLst>
                <a:ext uri="{FF2B5EF4-FFF2-40B4-BE49-F238E27FC236}">
                  <a16:creationId xmlns:a16="http://schemas.microsoft.com/office/drawing/2014/main" id="{0CEFD773-C68E-4952-829A-007DF0D26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72000" y="1484313"/>
              <a:ext cx="0" cy="1444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2237" name="Line 15">
              <a:extLst>
                <a:ext uri="{FF2B5EF4-FFF2-40B4-BE49-F238E27FC236}">
                  <a16:creationId xmlns:a16="http://schemas.microsoft.com/office/drawing/2014/main" id="{AC2BEC0B-F5D2-4173-AA25-A2490F02E7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47813" y="1628775"/>
              <a:ext cx="0" cy="144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2238" name="Line 16">
              <a:extLst>
                <a:ext uri="{FF2B5EF4-FFF2-40B4-BE49-F238E27FC236}">
                  <a16:creationId xmlns:a16="http://schemas.microsoft.com/office/drawing/2014/main" id="{FF798B00-343A-4844-B380-516FBEA460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7538" y="1628775"/>
              <a:ext cx="0" cy="144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  <p:sp>
          <p:nvSpPr>
            <p:cNvPr id="52239" name="Line 17">
              <a:extLst>
                <a:ext uri="{FF2B5EF4-FFF2-40B4-BE49-F238E27FC236}">
                  <a16:creationId xmlns:a16="http://schemas.microsoft.com/office/drawing/2014/main" id="{495E6648-94E4-4891-B692-9826CFD8E2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92950" y="1628775"/>
              <a:ext cx="0" cy="1444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cs-CZ"/>
            </a:p>
          </p:txBody>
        </p:sp>
      </p:grpSp>
      <p:sp>
        <p:nvSpPr>
          <p:cNvPr id="52241" name="Rectangle 20">
            <a:extLst>
              <a:ext uri="{FF2B5EF4-FFF2-40B4-BE49-F238E27FC236}">
                <a16:creationId xmlns:a16="http://schemas.microsoft.com/office/drawing/2014/main" id="{D0E351C9-52F9-42FB-A379-C7F207FB96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2362" y="3246797"/>
            <a:ext cx="2694302" cy="359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800" dirty="0">
                <a:solidFill>
                  <a:srgbClr val="7300E6"/>
                </a:solidFill>
              </a:rPr>
              <a:t>B - využití</a:t>
            </a:r>
          </a:p>
        </p:txBody>
      </p:sp>
      <p:sp>
        <p:nvSpPr>
          <p:cNvPr id="52243" name="Text Box 22">
            <a:extLst>
              <a:ext uri="{FF2B5EF4-FFF2-40B4-BE49-F238E27FC236}">
                <a16:creationId xmlns:a16="http://schemas.microsoft.com/office/drawing/2014/main" id="{BC74EE82-237A-4EBD-BF35-02162EF25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285" y="2461109"/>
            <a:ext cx="2683377" cy="64633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800" dirty="0">
                <a:solidFill>
                  <a:srgbClr val="7300E6"/>
                </a:solidFill>
              </a:rPr>
              <a:t>A - vnější činitel prostředí</a:t>
            </a:r>
          </a:p>
        </p:txBody>
      </p:sp>
      <p:sp>
        <p:nvSpPr>
          <p:cNvPr id="52244" name="Line 23">
            <a:extLst>
              <a:ext uri="{FF2B5EF4-FFF2-40B4-BE49-F238E27FC236}">
                <a16:creationId xmlns:a16="http://schemas.microsoft.com/office/drawing/2014/main" id="{B4E80530-B70C-4F35-8017-868A18890FF3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494" y="2784274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46" name="Line 25">
            <a:extLst>
              <a:ext uri="{FF2B5EF4-FFF2-40B4-BE49-F238E27FC236}">
                <a16:creationId xmlns:a16="http://schemas.microsoft.com/office/drawing/2014/main" id="{A7175261-4924-4DFE-B281-227D7990E1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494" y="2326656"/>
            <a:ext cx="1587" cy="1692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47" name="Line 26">
            <a:extLst>
              <a:ext uri="{FF2B5EF4-FFF2-40B4-BE49-F238E27FC236}">
                <a16:creationId xmlns:a16="http://schemas.microsoft.com/office/drawing/2014/main" id="{A580FF63-CA88-4DAB-B430-6AE414DFE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759" y="3439396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48" name="Line 27">
            <a:extLst>
              <a:ext uri="{FF2B5EF4-FFF2-40B4-BE49-F238E27FC236}">
                <a16:creationId xmlns:a16="http://schemas.microsoft.com/office/drawing/2014/main" id="{3391001A-9C21-49B7-9E3E-37A316A52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494" y="4005064"/>
            <a:ext cx="215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49" name="Text Box 28">
            <a:extLst>
              <a:ext uri="{FF2B5EF4-FFF2-40B4-BE49-F238E27FC236}">
                <a16:creationId xmlns:a16="http://schemas.microsoft.com/office/drawing/2014/main" id="{8D77B1E8-33DE-4E3F-B033-08DCC19B82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286" y="3816400"/>
            <a:ext cx="2683378" cy="36933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800" dirty="0">
                <a:solidFill>
                  <a:srgbClr val="7300E6"/>
                </a:solidFill>
              </a:rPr>
              <a:t>C - konstrukce budovy</a:t>
            </a:r>
          </a:p>
        </p:txBody>
      </p:sp>
      <p:sp>
        <p:nvSpPr>
          <p:cNvPr id="52250" name="Line 29">
            <a:extLst>
              <a:ext uri="{FF2B5EF4-FFF2-40B4-BE49-F238E27FC236}">
                <a16:creationId xmlns:a16="http://schemas.microsoft.com/office/drawing/2014/main" id="{ECBD0F0C-6474-4107-AEC8-0D4553BB83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349500"/>
            <a:ext cx="0" cy="20875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51" name="Line 30">
            <a:extLst>
              <a:ext uri="{FF2B5EF4-FFF2-40B4-BE49-F238E27FC236}">
                <a16:creationId xmlns:a16="http://schemas.microsoft.com/office/drawing/2014/main" id="{D9C690E1-ED94-4059-BF8F-F7C44BF3B3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708275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52" name="Line 31">
            <a:extLst>
              <a:ext uri="{FF2B5EF4-FFF2-40B4-BE49-F238E27FC236}">
                <a16:creationId xmlns:a16="http://schemas.microsoft.com/office/drawing/2014/main" id="{EA65C9CF-399D-46DF-8EB3-B3511094F95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29972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53" name="Line 32">
            <a:extLst>
              <a:ext uri="{FF2B5EF4-FFF2-40B4-BE49-F238E27FC236}">
                <a16:creationId xmlns:a16="http://schemas.microsoft.com/office/drawing/2014/main" id="{B5AF5BC8-2C06-4490-A37E-C34AF0955F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5738" y="3357563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54" name="Text Box 35">
            <a:extLst>
              <a:ext uri="{FF2B5EF4-FFF2-40B4-BE49-F238E27FC236}">
                <a16:creationId xmlns:a16="http://schemas.microsoft.com/office/drawing/2014/main" id="{58E5C546-110D-4E7C-8291-144235631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2565400"/>
            <a:ext cx="3603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400"/>
              <a:t>A</a:t>
            </a:r>
          </a:p>
        </p:txBody>
      </p:sp>
      <p:sp>
        <p:nvSpPr>
          <p:cNvPr id="52255" name="Text Box 36">
            <a:extLst>
              <a:ext uri="{FF2B5EF4-FFF2-40B4-BE49-F238E27FC236}">
                <a16:creationId xmlns:a16="http://schemas.microsoft.com/office/drawing/2014/main" id="{01AE3E17-2A0A-4B1E-ABD8-1B6CC0528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2852738"/>
            <a:ext cx="3032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1400"/>
              <a:t>B</a:t>
            </a:r>
          </a:p>
        </p:txBody>
      </p:sp>
      <p:sp>
        <p:nvSpPr>
          <p:cNvPr id="52256" name="Text Box 37">
            <a:extLst>
              <a:ext uri="{FF2B5EF4-FFF2-40B4-BE49-F238E27FC236}">
                <a16:creationId xmlns:a16="http://schemas.microsoft.com/office/drawing/2014/main" id="{BCD0EBF5-3074-4DA4-87F6-0FB51141D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213100"/>
            <a:ext cx="288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400"/>
              <a:t>C</a:t>
            </a:r>
          </a:p>
        </p:txBody>
      </p:sp>
      <p:sp>
        <p:nvSpPr>
          <p:cNvPr id="52257" name="Line 39">
            <a:extLst>
              <a:ext uri="{FF2B5EF4-FFF2-40B4-BE49-F238E27FC236}">
                <a16:creationId xmlns:a16="http://schemas.microsoft.com/office/drawing/2014/main" id="{F4CA0237-9B59-4658-95C3-22A22ECAB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573463"/>
            <a:ext cx="0" cy="576262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58" name="Line 40">
            <a:extLst>
              <a:ext uri="{FF2B5EF4-FFF2-40B4-BE49-F238E27FC236}">
                <a16:creationId xmlns:a16="http://schemas.microsoft.com/office/drawing/2014/main" id="{C627E9A7-D395-4AF3-A7C7-0521326F794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349500"/>
            <a:ext cx="0" cy="14398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59" name="Line 41">
            <a:extLst>
              <a:ext uri="{FF2B5EF4-FFF2-40B4-BE49-F238E27FC236}">
                <a16:creationId xmlns:a16="http://schemas.microsoft.com/office/drawing/2014/main" id="{EBD350D8-448C-4933-8B8B-C4B2A3182C2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708275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60" name="Line 42">
            <a:extLst>
              <a:ext uri="{FF2B5EF4-FFF2-40B4-BE49-F238E27FC236}">
                <a16:creationId xmlns:a16="http://schemas.microsoft.com/office/drawing/2014/main" id="{6DC93EAF-0523-4D7C-955F-17C0FED8ECF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43663" y="2997200"/>
            <a:ext cx="3603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61" name="Text Box 43">
            <a:extLst>
              <a:ext uri="{FF2B5EF4-FFF2-40B4-BE49-F238E27FC236}">
                <a16:creationId xmlns:a16="http://schemas.microsoft.com/office/drawing/2014/main" id="{9DED8545-7022-45DF-9A0C-BAB165BFB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2565400"/>
            <a:ext cx="2873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400"/>
              <a:t>1</a:t>
            </a:r>
          </a:p>
        </p:txBody>
      </p:sp>
      <p:sp>
        <p:nvSpPr>
          <p:cNvPr id="52262" name="Text Box 44">
            <a:extLst>
              <a:ext uri="{FF2B5EF4-FFF2-40B4-BE49-F238E27FC236}">
                <a16:creationId xmlns:a16="http://schemas.microsoft.com/office/drawing/2014/main" id="{8EE5AC74-9D23-4793-9069-600739E7C6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2852738"/>
            <a:ext cx="2889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cs-CZ" altLang="cs-CZ" sz="1400"/>
              <a:t>2</a:t>
            </a:r>
          </a:p>
        </p:txBody>
      </p:sp>
      <p:sp>
        <p:nvSpPr>
          <p:cNvPr id="52263" name="Line 45">
            <a:extLst>
              <a:ext uri="{FF2B5EF4-FFF2-40B4-BE49-F238E27FC236}">
                <a16:creationId xmlns:a16="http://schemas.microsoft.com/office/drawing/2014/main" id="{303E2039-5572-4B58-89D7-72E00552FB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8488" y="3213100"/>
            <a:ext cx="0" cy="36036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cs-CZ"/>
          </a:p>
        </p:txBody>
      </p:sp>
      <p:sp>
        <p:nvSpPr>
          <p:cNvPr id="52264" name="Text Box 46">
            <a:extLst>
              <a:ext uri="{FF2B5EF4-FFF2-40B4-BE49-F238E27FC236}">
                <a16:creationId xmlns:a16="http://schemas.microsoft.com/office/drawing/2014/main" id="{F7B19CFF-B1F6-4AAB-BAD9-7C4AF3400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672" y="4765367"/>
            <a:ext cx="5516870" cy="1548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600" dirty="0">
                <a:solidFill>
                  <a:srgbClr val="7300E6"/>
                </a:solidFill>
              </a:rPr>
              <a:t>Příklady kódování vnějších vlivů: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600" dirty="0">
                <a:solidFill>
                  <a:srgbClr val="7300E6"/>
                </a:solidFill>
              </a:rPr>
              <a:t>AD 3 … vodní tříšť		BA 3 … invalidé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600" dirty="0">
                <a:solidFill>
                  <a:srgbClr val="7300E6"/>
                </a:solidFill>
              </a:rPr>
              <a:t>AD 8 … hluboké ponoření 	BE 3 … nebezpečí výbuchu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600" dirty="0">
                <a:solidFill>
                  <a:srgbClr val="7300E6"/>
                </a:solidFill>
              </a:rPr>
              <a:t>AE 5 … mírná prašnost 	CB 2 … snadné šíření ohně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cs-CZ" altLang="cs-CZ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3">
            <a:extLst>
              <a:ext uri="{FF2B5EF4-FFF2-40B4-BE49-F238E27FC236}">
                <a16:creationId xmlns:a16="http://schemas.microsoft.com/office/drawing/2014/main" id="{C06E4FBF-2F0F-440D-83A3-B02E7F77AA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1412776"/>
            <a:ext cx="8208143" cy="5184576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cs-CZ" altLang="cs-CZ" sz="2000" dirty="0">
                <a:solidFill>
                  <a:srgbClr val="7300E6"/>
                </a:solidFill>
              </a:rPr>
              <a:t>Základní pravidlo: nebezpečné živé části nesmějí být za normálních podmínek přístupné (</a:t>
            </a:r>
            <a:r>
              <a:rPr lang="cs-CZ" altLang="cs-CZ" sz="2000" dirty="0">
                <a:ln>
                  <a:solidFill>
                    <a:schemeClr val="tx1"/>
                  </a:solidFill>
                </a:ln>
                <a:solidFill>
                  <a:srgbClr val="7300E6"/>
                </a:solidFill>
              </a:rPr>
              <a:t>základní ochrana</a:t>
            </a:r>
            <a:r>
              <a:rPr lang="cs-CZ" altLang="cs-CZ" sz="2000" dirty="0">
                <a:solidFill>
                  <a:srgbClr val="7300E6"/>
                </a:solidFill>
              </a:rPr>
              <a:t>) a přístupné vodivé části (neživé, cizí) nesmějí být nebezpečné ani za normálních podmínek ani za podmínek jedné poruchy (</a:t>
            </a:r>
            <a:r>
              <a:rPr lang="cs-CZ" altLang="cs-CZ" sz="2000" dirty="0">
                <a:ln>
                  <a:solidFill>
                    <a:schemeClr val="tx1"/>
                  </a:solidFill>
                </a:ln>
                <a:solidFill>
                  <a:srgbClr val="7300E6"/>
                </a:solidFill>
              </a:rPr>
              <a:t>ochrana při poruše</a:t>
            </a:r>
            <a:r>
              <a:rPr lang="cs-CZ" altLang="cs-CZ" sz="2000" dirty="0">
                <a:solidFill>
                  <a:srgbClr val="7300E6"/>
                </a:solidFill>
              </a:rPr>
              <a:t>).</a:t>
            </a:r>
          </a:p>
          <a:p>
            <a:pPr eaLnBrk="1" hangingPunct="1">
              <a:lnSpc>
                <a:spcPct val="90000"/>
              </a:lnSpc>
            </a:pPr>
            <a:endParaRPr lang="cs-CZ" altLang="cs-CZ" sz="2000" dirty="0">
              <a:solidFill>
                <a:srgbClr val="7300E6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cs-CZ" altLang="cs-CZ" sz="2000" dirty="0">
                <a:solidFill>
                  <a:srgbClr val="7300E6"/>
                </a:solidFill>
              </a:rPr>
              <a:t>Z toho vyplývá, že kompletní ochranná opatření musí sestávat</a:t>
            </a:r>
            <a:br>
              <a:rPr lang="cs-CZ" altLang="cs-CZ" sz="2000" dirty="0">
                <a:solidFill>
                  <a:srgbClr val="7300E6"/>
                </a:solidFill>
              </a:rPr>
            </a:br>
            <a:r>
              <a:rPr lang="cs-CZ" altLang="cs-CZ" sz="2000" dirty="0">
                <a:solidFill>
                  <a:srgbClr val="7300E6"/>
                </a:solidFill>
              </a:rPr>
              <a:t>z vhodné kombinace </a:t>
            </a:r>
            <a:r>
              <a:rPr lang="cs-CZ" altLang="cs-CZ" sz="2000" dirty="0">
                <a:ln>
                  <a:solidFill>
                    <a:schemeClr val="tx1"/>
                  </a:solidFill>
                </a:ln>
                <a:solidFill>
                  <a:srgbClr val="7300E6"/>
                </a:solidFill>
              </a:rPr>
              <a:t>dvou nezávislých ochranných opatření </a:t>
            </a:r>
            <a:r>
              <a:rPr lang="cs-CZ" altLang="cs-CZ" sz="2000" dirty="0">
                <a:solidFill>
                  <a:srgbClr val="7300E6"/>
                </a:solidFill>
              </a:rPr>
              <a:t>(základní ochrana a ochrana při poruše), </a:t>
            </a:r>
          </a:p>
          <a:p>
            <a:pPr algn="ctr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cs-CZ" altLang="cs-CZ" sz="2000" dirty="0">
                <a:ln>
                  <a:solidFill>
                    <a:schemeClr val="tx1"/>
                  </a:solidFill>
                </a:ln>
                <a:solidFill>
                  <a:srgbClr val="7300E6"/>
                </a:solidFill>
              </a:rPr>
              <a:t>NEBO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cs-CZ" altLang="cs-CZ" sz="2000" dirty="0">
                <a:solidFill>
                  <a:srgbClr val="7300E6"/>
                </a:solidFill>
              </a:rPr>
              <a:t>	je možné použít </a:t>
            </a:r>
            <a:r>
              <a:rPr lang="cs-CZ" altLang="cs-CZ" sz="2000" dirty="0">
                <a:ln>
                  <a:solidFill>
                    <a:schemeClr val="tx1"/>
                  </a:solidFill>
                </a:ln>
                <a:solidFill>
                  <a:srgbClr val="7300E6"/>
                </a:solidFill>
              </a:rPr>
              <a:t>zvýšenou ochranu</a:t>
            </a:r>
            <a:r>
              <a:rPr lang="cs-CZ" altLang="cs-CZ" sz="2000" dirty="0">
                <a:solidFill>
                  <a:srgbClr val="7300E6"/>
                </a:solidFill>
              </a:rPr>
              <a:t>, což je </a:t>
            </a:r>
            <a:r>
              <a:rPr lang="cs-CZ" altLang="cs-CZ" sz="2000" u="sng" dirty="0">
                <a:solidFill>
                  <a:srgbClr val="7300E6"/>
                </a:solidFill>
              </a:rPr>
              <a:t>jedno ochranné opatření</a:t>
            </a:r>
            <a:r>
              <a:rPr lang="cs-CZ" altLang="cs-CZ" sz="2000" dirty="0">
                <a:solidFill>
                  <a:srgbClr val="7300E6"/>
                </a:solidFill>
              </a:rPr>
              <a:t>, které zajišťuje jak ochranu základní, tak ochranu při poruše.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cs-CZ" altLang="cs-CZ" sz="2000" dirty="0">
              <a:solidFill>
                <a:srgbClr val="7300E6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cs-CZ" altLang="cs-CZ" sz="1800" dirty="0"/>
              <a:t>Všeobecně jsou dovolena tato ochranná opatření: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cs-CZ" altLang="cs-CZ" sz="1800" dirty="0"/>
              <a:t>	- automatické odpojení od zdroje (zařízení třídy I)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cs-CZ" altLang="cs-CZ" sz="1800" dirty="0"/>
              <a:t>	- dvojitá nebo zesílená izolace (zařízení třídy II)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cs-CZ" altLang="cs-CZ" sz="1800" dirty="0"/>
              <a:t>	- malé napětí (SELV, PELV) (zařízení třídy III)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4E851F-FAF9-92A5-899D-70F7E8FCD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342010"/>
            <a:ext cx="7776864" cy="913204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  <a:buSzPct val="70000"/>
            </a:pPr>
            <a:r>
              <a:rPr lang="cs-CZ" sz="2400" b="0" dirty="0"/>
              <a:t>Z čeho se musí skládat ochranné opatření před úrazem elektrickým proudem </a:t>
            </a:r>
            <a:endParaRPr lang="cs-CZ" altLang="cs-CZ" sz="2400" b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AFDC54A9-FAEF-48D9-8DEF-6F06B5450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05" y="397837"/>
            <a:ext cx="7543800" cy="503783"/>
          </a:xfrm>
        </p:spPr>
        <p:txBody>
          <a:bodyPr/>
          <a:lstStyle/>
          <a:p>
            <a:pPr eaLnBrk="1" hangingPunct="1"/>
            <a:br>
              <a:rPr lang="cs-CZ" altLang="cs-CZ" sz="2800" b="0" dirty="0"/>
            </a:br>
            <a:r>
              <a:rPr lang="cs-CZ" altLang="cs-CZ" sz="2800" b="0" dirty="0"/>
              <a:t>Prostředky doplňkové ochrany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49E95F1F-E99F-4A63-8A65-6AC1A8484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05" y="908720"/>
            <a:ext cx="8352990" cy="547260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cs-CZ" altLang="cs-CZ" sz="1600" dirty="0"/>
              <a:t>V současné době prakticky všude, kde s elektrickým zařízením do 32 A zacházejí osoby bez elektrotechnické kvalifikace, je nutné uplatnit některý ze způsobů doplňkové ochrany </a:t>
            </a:r>
            <a:br>
              <a:rPr lang="cs-CZ" altLang="cs-CZ" sz="1600" dirty="0"/>
            </a:br>
            <a:r>
              <a:rPr lang="cs-CZ" altLang="cs-CZ" sz="1600" dirty="0"/>
              <a:t>a v určitých prostorách a při působení určitých vnějších vlivů může být určena jako běžná součást použitých ochranných opatření (ČSN EN 33 2000-7 Elektrické instalace nízkého napětí – Část 7–7xx: Zařízení jednoúčelová a ve zvláštních objektech - …)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sz="1000" kern="1200" dirty="0">
              <a:solidFill>
                <a:srgbClr val="7300E6"/>
              </a:solidFill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800" kern="1200" dirty="0">
                <a:solidFill>
                  <a:srgbClr val="7300E6"/>
                </a:solidFill>
                <a:latin typeface="Arial" panose="020B0604020202020204" pitchFamily="34" charset="0"/>
              </a:rPr>
              <a:t>Doplňková ochrana: citlivé proudové chrániče,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cs-CZ" altLang="cs-CZ" sz="1600" dirty="0">
                <a:solidFill>
                  <a:srgbClr val="7300E6"/>
                </a:solidFill>
              </a:rPr>
              <a:t>použití proudových chráničů </a:t>
            </a:r>
            <a:r>
              <a:rPr lang="cs-CZ" altLang="cs-CZ" sz="1600" u="sng" dirty="0">
                <a:solidFill>
                  <a:srgbClr val="7300E6"/>
                </a:solidFill>
              </a:rPr>
              <a:t>s vybavovacím reziduálním proudem nepřekračujícím</a:t>
            </a:r>
            <a:br>
              <a:rPr lang="cs-CZ" altLang="cs-CZ" sz="1600" i="1" u="sng" dirty="0">
                <a:solidFill>
                  <a:srgbClr val="7300E6"/>
                </a:solidFill>
              </a:rPr>
            </a:br>
            <a:r>
              <a:rPr lang="cs-CZ" altLang="cs-CZ" sz="1600" i="1" u="sng" dirty="0">
                <a:solidFill>
                  <a:srgbClr val="7300E6"/>
                </a:solidFill>
              </a:rPr>
              <a:t>30 mA</a:t>
            </a:r>
            <a:r>
              <a:rPr lang="cs-CZ" altLang="cs-CZ" sz="1600" dirty="0">
                <a:solidFill>
                  <a:srgbClr val="7300E6"/>
                </a:solidFill>
              </a:rPr>
              <a:t> se považuje za doplňkovou ochranu při selhání ochrany základní a/nebo ochrany při poruše nebo při neopatrnosti uživatele zařízení,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cs-CZ" altLang="cs-CZ" sz="1600" dirty="0"/>
              <a:t>nepovažuje se za výhradní ochranné opatření a nenahrazuje ani ochranu základní ani ochranu při poruše, pouze ji ve smyslu vyššího zabezpečení doplňuje.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sz="1800" kern="1200" dirty="0">
              <a:latin typeface="Arial" panose="020B060402020202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800" kern="1200" dirty="0">
                <a:latin typeface="Arial" panose="020B0604020202020204" pitchFamily="34" charset="0"/>
              </a:rPr>
              <a:t>Dalším z prostředků může být </a:t>
            </a:r>
            <a:r>
              <a:rPr lang="cs-CZ" altLang="cs-CZ" sz="1800" u="sng" kern="1200" dirty="0">
                <a:latin typeface="Arial" panose="020B0604020202020204" pitchFamily="34" charset="0"/>
              </a:rPr>
              <a:t>doplňující ochranné pospojování</a:t>
            </a:r>
            <a:r>
              <a:rPr lang="cs-CZ" altLang="cs-CZ" sz="1600" kern="1200" dirty="0">
                <a:latin typeface="Arial" panose="020B0604020202020204" pitchFamily="34" charset="0"/>
              </a:rPr>
              <a:t>, které</a:t>
            </a:r>
            <a:r>
              <a:rPr lang="cs-CZ" altLang="cs-CZ" sz="1400" dirty="0"/>
              <a:t> </a:t>
            </a:r>
            <a:r>
              <a:rPr lang="cs-CZ" altLang="cs-CZ" sz="1600" dirty="0"/>
              <a:t>může zahrnovat celou instalaci, její část, jednotlivé přístroje nebo prostor,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cs-CZ" altLang="cs-CZ" sz="1600" dirty="0"/>
              <a:t>v místě zvoleném pro jeho uplatnění musí zahrnovat všechny neživé části upevněných zařízení současně přístupné dotyku a cizí vodivé části včetně hlavních kovových armatur železobetonu, pokud je to proveditelné,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cs-CZ" altLang="cs-CZ" sz="1600" dirty="0"/>
              <a:t>systém musí být spojen s ochrannými vodiči všech zařízení včetně těch, které jsou připojeny do zásuvek.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F13B5B20-F0AC-41C2-9984-4BB02CEA6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04804" y="404664"/>
            <a:ext cx="6624860" cy="954107"/>
          </a:xfrm>
        </p:spPr>
        <p:txBody>
          <a:bodyPr/>
          <a:lstStyle/>
          <a:p>
            <a:pPr eaLnBrk="1" hangingPunct="1"/>
            <a:r>
              <a:rPr lang="cs-CZ" altLang="cs-CZ" sz="2800" b="0" dirty="0"/>
              <a:t>Třída ochrany I</a:t>
            </a:r>
            <a:br>
              <a:rPr lang="cs-CZ" altLang="cs-CZ" sz="2800" b="0" dirty="0"/>
            </a:br>
            <a:r>
              <a:rPr lang="cs-CZ" altLang="cs-CZ" sz="2800" b="0" dirty="0"/>
              <a:t>Automatické odpojení od zdroje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5D024965-5EDB-4E58-AB88-BDEF7BB17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3077099"/>
            <a:ext cx="8229600" cy="2117168"/>
          </a:xfrm>
        </p:spPr>
        <p:txBody>
          <a:bodyPr/>
          <a:lstStyle/>
          <a:p>
            <a:pPr marL="571500" indent="-571500" eaLnBrk="1" hangingPunct="1">
              <a:buFont typeface="Wingdings" panose="05000000000000000000" pitchFamily="2" charset="2"/>
              <a:buNone/>
              <a:defRPr/>
            </a:pPr>
            <a:r>
              <a:rPr lang="cs-CZ" sz="1800" u="sng" dirty="0">
                <a:effectLst/>
                <a:ea typeface="Calibri" panose="020F0502020204030204" pitchFamily="34" charset="0"/>
              </a:rPr>
              <a:t>Co musí být vzájemně spojeno do takzvaného </a:t>
            </a:r>
            <a:r>
              <a:rPr lang="cs-CZ" sz="1800" u="sng" dirty="0">
                <a:solidFill>
                  <a:srgbClr val="7300E6"/>
                </a:solidFill>
                <a:effectLst/>
                <a:ea typeface="Calibri" panose="020F0502020204030204" pitchFamily="34" charset="0"/>
              </a:rPr>
              <a:t>ochranného pospojování</a:t>
            </a:r>
            <a:r>
              <a:rPr lang="cs-CZ" sz="1800" u="sng" dirty="0">
                <a:effectLst/>
                <a:ea typeface="Calibri" panose="020F0502020204030204" pitchFamily="34" charset="0"/>
              </a:rPr>
              <a:t>: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r>
              <a:rPr lang="cs-CZ" altLang="cs-CZ" sz="1600" dirty="0"/>
              <a:t>V každé budově musejí být vstupující kovové části, které jsou náchylné přivést nebezpečný rozdíl potenciálů a které </a:t>
            </a:r>
            <a:r>
              <a:rPr lang="cs-CZ" altLang="cs-CZ" sz="1600" b="1" dirty="0">
                <a:solidFill>
                  <a:srgbClr val="7300E6"/>
                </a:solidFill>
              </a:rPr>
              <a:t>nejsou</a:t>
            </a:r>
            <a:r>
              <a:rPr lang="cs-CZ" altLang="cs-CZ" sz="1600" dirty="0">
                <a:solidFill>
                  <a:srgbClr val="7300E6"/>
                </a:solidFill>
              </a:rPr>
              <a:t> </a:t>
            </a:r>
            <a:r>
              <a:rPr lang="cs-CZ" altLang="cs-CZ" sz="1600" dirty="0"/>
              <a:t>součástí elektrické instalace (kovová potrubí zajišťující napájení budovy, např. plynem, vodou, dálkové vytápění, konstrukční cizí vodivé části, přístupná konstrukční výztuž betonu), spojeny s hlavní uzemňovací svorkou respektive ochrannou přípojnicí pomocí vodičů ochranného pospojování. Části přicházející zvenku se spojují co nejblíže místu, kde vstupují do budovy.</a:t>
            </a:r>
          </a:p>
          <a:p>
            <a:pPr marL="0" indent="0" algn="just" eaLnBrk="1" hangingPunct="1">
              <a:buFont typeface="Wingdings" panose="05000000000000000000" pitchFamily="2" charset="2"/>
              <a:buNone/>
              <a:defRPr/>
            </a:pPr>
            <a:endParaRPr lang="cs-CZ" altLang="cs-CZ" sz="1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571500" indent="-571500" eaLnBrk="1" hangingPunct="1">
              <a:buFont typeface="Wingdings" panose="05000000000000000000" pitchFamily="2" charset="2"/>
              <a:buNone/>
              <a:defRPr/>
            </a:pPr>
            <a:endParaRPr lang="cs-CZ" altLang="cs-CZ" sz="1400" b="1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0A3C7A65-C6FE-4327-B8DA-04754025B5BD}"/>
              </a:ext>
            </a:extLst>
          </p:cNvPr>
          <p:cNvSpPr txBox="1"/>
          <p:nvPr/>
        </p:nvSpPr>
        <p:spPr>
          <a:xfrm>
            <a:off x="404804" y="1802436"/>
            <a:ext cx="82296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cs-CZ" altLang="cs-CZ" dirty="0">
                <a:solidFill>
                  <a:srgbClr val="7300E6"/>
                </a:solidFill>
              </a:rPr>
              <a:t>Automatické odpojení od zdroje </a:t>
            </a:r>
            <a:r>
              <a:rPr lang="cs-CZ" altLang="cs-CZ" dirty="0"/>
              <a:t>je ochranné opatření, jehož </a:t>
            </a:r>
            <a:r>
              <a:rPr lang="cs-CZ" altLang="cs-CZ" u="sng" dirty="0">
                <a:solidFill>
                  <a:srgbClr val="7300E6"/>
                </a:solidFill>
              </a:rPr>
              <a:t>základní ochrana</a:t>
            </a:r>
            <a:r>
              <a:rPr lang="cs-CZ" altLang="cs-CZ" dirty="0">
                <a:solidFill>
                  <a:srgbClr val="7300E6"/>
                </a:solidFill>
              </a:rPr>
              <a:t> je zajištěna základní izolací živých částí nebo přepážkami nebo kryty a </a:t>
            </a:r>
            <a:r>
              <a:rPr lang="cs-CZ" altLang="cs-CZ" u="sng" dirty="0">
                <a:solidFill>
                  <a:srgbClr val="7300E6"/>
                </a:solidFill>
              </a:rPr>
              <a:t>ochrana při poruše</a:t>
            </a:r>
            <a:r>
              <a:rPr lang="cs-CZ" altLang="cs-CZ" dirty="0">
                <a:solidFill>
                  <a:srgbClr val="7300E6"/>
                </a:solidFill>
              </a:rPr>
              <a:t> je zajištěna ochranným pospojováním, ochranným uzemněním a odpojením od zdroje.</a:t>
            </a:r>
          </a:p>
        </p:txBody>
      </p:sp>
    </p:spTree>
    <p:extLst>
      <p:ext uri="{BB962C8B-B14F-4D97-AF65-F5344CB8AC3E}">
        <p14:creationId xmlns:p14="http://schemas.microsoft.com/office/powerpoint/2010/main" val="39377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F86E9FDD-87F0-414B-BDD7-EAF933BD45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6293" y="116683"/>
            <a:ext cx="7344940" cy="1080070"/>
          </a:xfrm>
        </p:spPr>
        <p:txBody>
          <a:bodyPr/>
          <a:lstStyle/>
          <a:p>
            <a:pPr eaLnBrk="1" hangingPunct="1"/>
            <a:r>
              <a:rPr lang="cs-CZ" altLang="cs-CZ" sz="2800" b="0" dirty="0"/>
              <a:t>Třída ochrany II</a:t>
            </a:r>
            <a:br>
              <a:rPr lang="cs-CZ" altLang="cs-CZ" sz="2800" b="0" dirty="0"/>
            </a:br>
            <a:r>
              <a:rPr lang="cs-CZ" altLang="cs-CZ" sz="2800" b="0" dirty="0"/>
              <a:t>Dvojitá nebo zesílená izolace</a:t>
            </a:r>
            <a:endParaRPr lang="cs-CZ" altLang="cs-CZ" sz="1600" b="0" dirty="0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89162694-6A66-4453-9BDA-1E92901AF12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07652" y="1268760"/>
            <a:ext cx="8362950" cy="5184576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cs-CZ" altLang="cs-CZ" sz="1800" dirty="0">
                <a:solidFill>
                  <a:srgbClr val="7300E6"/>
                </a:solidFill>
              </a:rPr>
              <a:t>Dvojitá izolace  je ochranné opatření, při jehož použití je </a:t>
            </a:r>
            <a:r>
              <a:rPr lang="cs-CZ" altLang="cs-CZ" sz="1800" u="sng" dirty="0">
                <a:solidFill>
                  <a:srgbClr val="7300E6"/>
                </a:solidFill>
              </a:rPr>
              <a:t>základní ochrana</a:t>
            </a:r>
            <a:r>
              <a:rPr lang="cs-CZ" altLang="cs-CZ" sz="1800" dirty="0">
                <a:solidFill>
                  <a:srgbClr val="7300E6"/>
                </a:solidFill>
              </a:rPr>
              <a:t> zajištěna základní izolací a </a:t>
            </a:r>
            <a:r>
              <a:rPr lang="cs-CZ" altLang="cs-CZ" sz="1800" u="sng" dirty="0">
                <a:solidFill>
                  <a:srgbClr val="7300E6"/>
                </a:solidFill>
              </a:rPr>
              <a:t>ochrana při poruše</a:t>
            </a:r>
            <a:r>
              <a:rPr lang="cs-CZ" altLang="cs-CZ" sz="1800" dirty="0">
                <a:solidFill>
                  <a:srgbClr val="7300E6"/>
                </a:solidFill>
              </a:rPr>
              <a:t> přídavnou izolací (společně tvoří izolaci dvojitou) </a:t>
            </a:r>
          </a:p>
          <a:p>
            <a:pPr marL="0" indent="0"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cs-CZ" altLang="cs-CZ" sz="1600" dirty="0"/>
              <a:t>NEBO lze použít rovnocenné opatření, kdy je základní ochrana i ochrana při poruše zajištěna zesílenou izolací mezi nebezpečnými živými částmi a přístupnými částmi (zvýšená ochrana), viz ČSN 33 2000-4-41.</a:t>
            </a:r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endParaRPr lang="cs-CZ" altLang="cs-CZ" sz="1600" dirty="0"/>
          </a:p>
          <a:p>
            <a:pPr eaLnBrk="1" hangingPunct="1">
              <a:lnSpc>
                <a:spcPct val="8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cs-CZ" altLang="cs-CZ" sz="1600" dirty="0"/>
              <a:t>Požadavky na základní ochranu a ochranu při poruše: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cs-CZ" altLang="cs-CZ" sz="1600" dirty="0"/>
              <a:t>Elektrické zařízení 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cs-CZ" altLang="cs-CZ" sz="1600" dirty="0"/>
              <a:t>	a) Musí být typově zkoušené a označené podle příslušných norem jako zařízení, které má dvojitou nebo zesílenou izolaci (zařízení třídy ochrany II).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cs-CZ" altLang="cs-CZ" sz="1600" dirty="0"/>
              <a:t>	Toto zařízení je označováno značkou     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cs-CZ" altLang="cs-CZ" sz="1600" dirty="0"/>
              <a:t>	b) Elektrické zařízení, které má pouze základní izolaci, musí být doplněno přídavnou izolací v průběhu výstavby (montáže) elektrické instalace.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cs-CZ" altLang="cs-CZ" sz="1600" dirty="0"/>
              <a:t>	Na viditelném místě povrchu a vnitřku krytu musí být umístěna značka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cs-CZ" altLang="cs-CZ" sz="1600" dirty="0"/>
              <a:t>	c) Elektrické zařízení, které má neizolované části, musí být v průběhu montáže doplněno zesílenou izolací, takovou izolaci lze připustit pouze tam, kde charakter konstrukce neumožňuje provedení dvojité izolace.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600" dirty="0"/>
              <a:t>	Na viditelném místě povrchu a vnitřku krytu musí být umístěna značka           </a:t>
            </a:r>
          </a:p>
        </p:txBody>
      </p:sp>
      <p:grpSp>
        <p:nvGrpSpPr>
          <p:cNvPr id="2" name="Skupina 1">
            <a:extLst>
              <a:ext uri="{FF2B5EF4-FFF2-40B4-BE49-F238E27FC236}">
                <a16:creationId xmlns:a16="http://schemas.microsoft.com/office/drawing/2014/main" id="{3B038C80-B0F1-486C-9AD3-89A330C62254}"/>
              </a:ext>
            </a:extLst>
          </p:cNvPr>
          <p:cNvGrpSpPr/>
          <p:nvPr/>
        </p:nvGrpSpPr>
        <p:grpSpPr>
          <a:xfrm>
            <a:off x="4337127" y="4185112"/>
            <a:ext cx="252000" cy="252000"/>
            <a:chOff x="4389576" y="4437112"/>
            <a:chExt cx="252000" cy="252000"/>
          </a:xfrm>
        </p:grpSpPr>
        <p:sp>
          <p:nvSpPr>
            <p:cNvPr id="108548" name="Rectangle 8">
              <a:extLst>
                <a:ext uri="{FF2B5EF4-FFF2-40B4-BE49-F238E27FC236}">
                  <a16:creationId xmlns:a16="http://schemas.microsoft.com/office/drawing/2014/main" id="{77CC0803-5DA9-4432-9CF4-B5889E5795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61012" y="4508548"/>
              <a:ext cx="108000" cy="108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 sz="1800"/>
            </a:p>
          </p:txBody>
        </p:sp>
        <p:sp>
          <p:nvSpPr>
            <p:cNvPr id="108549" name="Rectangle 10">
              <a:extLst>
                <a:ext uri="{FF2B5EF4-FFF2-40B4-BE49-F238E27FC236}">
                  <a16:creationId xmlns:a16="http://schemas.microsoft.com/office/drawing/2014/main" id="{428851CB-6584-401E-9629-B8C13454FB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89576" y="4437112"/>
              <a:ext cx="252000" cy="252000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cs-CZ" altLang="cs-CZ" sz="1800"/>
            </a:p>
          </p:txBody>
        </p:sp>
      </p:grpSp>
      <p:pic>
        <p:nvPicPr>
          <p:cNvPr id="108550" name="Picture 11">
            <a:extLst>
              <a:ext uri="{FF2B5EF4-FFF2-40B4-BE49-F238E27FC236}">
                <a16:creationId xmlns:a16="http://schemas.microsoft.com/office/drawing/2014/main" id="{AF8B6079-7D24-4B2F-8008-BA29F7B36D87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4477" y="4712907"/>
            <a:ext cx="504000" cy="519812"/>
          </a:xfrm>
          <a:noFill/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50423CC7-2EAF-465A-9CD7-60FA416C35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686" y="5805264"/>
            <a:ext cx="504000" cy="51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2" name="Rectangle 3">
            <a:extLst>
              <a:ext uri="{FF2B5EF4-FFF2-40B4-BE49-F238E27FC236}">
                <a16:creationId xmlns:a16="http://schemas.microsoft.com/office/drawing/2014/main" id="{C4E6E906-9AC2-4F30-B41A-D8DEE0B8E5A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1556792"/>
            <a:ext cx="8712200" cy="2591743"/>
          </a:xfrm>
        </p:spPr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cs-CZ" altLang="cs-CZ" sz="1600" dirty="0"/>
              <a:t>Ochrana malým napětím je ochranné opatření, které je založeno na sítích malého napětí SELV a kde: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cs-CZ" altLang="cs-CZ" sz="1800" u="sng" dirty="0">
                <a:solidFill>
                  <a:srgbClr val="7300E6"/>
                </a:solidFill>
              </a:rPr>
              <a:t>základní ochrana</a:t>
            </a:r>
            <a:r>
              <a:rPr lang="cs-CZ" altLang="cs-CZ" sz="1800" dirty="0">
                <a:solidFill>
                  <a:srgbClr val="7300E6"/>
                </a:solidFill>
              </a:rPr>
              <a:t> je zajištěna omezením napětí v síti SELV horní mezí napěťového pásma I, to je 50 V pro střídavé a 120 V pro stejnosměrné napětí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cs-CZ" altLang="cs-CZ" sz="1800" u="sng" dirty="0">
                <a:solidFill>
                  <a:srgbClr val="7300E6"/>
                </a:solidFill>
              </a:rPr>
              <a:t>ochrana při poruše</a:t>
            </a:r>
            <a:r>
              <a:rPr lang="cs-CZ" altLang="cs-CZ" sz="1800" dirty="0">
                <a:solidFill>
                  <a:srgbClr val="7300E6"/>
                </a:solidFill>
              </a:rPr>
              <a:t> je zajištěna ochranným oddělením sítě SELV od všech ostatních sítí jiných než SELV a PELV, základní izolací mezi sítí SELV a ostatními sítěmi SELV nebo PELV a základní izolací mezi sítí SELV a zemí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sz="1800" dirty="0">
              <a:solidFill>
                <a:srgbClr val="7300E6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sz="14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sz="1400" b="1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sz="14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cs-CZ" altLang="cs-CZ" sz="1400" dirty="0"/>
              <a:t>	</a:t>
            </a: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FCB42CAD-7164-4727-8F44-CC428A644F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476672"/>
            <a:ext cx="7272932" cy="1022486"/>
          </a:xfrm>
        </p:spPr>
        <p:txBody>
          <a:bodyPr/>
          <a:lstStyle/>
          <a:p>
            <a:pPr eaLnBrk="1" hangingPunct="1"/>
            <a:r>
              <a:rPr lang="cs-CZ" altLang="cs-CZ" sz="2800" b="0" dirty="0"/>
              <a:t>Třída ochrany III</a:t>
            </a:r>
            <a:br>
              <a:rPr lang="cs-CZ" altLang="cs-CZ" sz="2800" b="0" dirty="0"/>
            </a:br>
            <a:r>
              <a:rPr lang="cs-CZ" altLang="cs-CZ" sz="2800" b="0" dirty="0"/>
              <a:t>Obvody s označením SELV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4422D79-549C-4269-9DB5-99371425D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3861048"/>
            <a:ext cx="8712200" cy="1079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cs-CZ" altLang="cs-CZ" sz="1600" kern="0" dirty="0"/>
              <a:t>Cílem opatření pro ochranu při poruše je zamezit zavlečení vyššího napětí než je malé napětí do obvodu SELV.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íť">
  <a:themeElements>
    <a:clrScheme name="Síť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Síť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íť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íť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íť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3131</TotalTime>
  <Words>1962</Words>
  <Application>Microsoft Office PowerPoint</Application>
  <PresentationFormat>Předvádění na obrazovce (4:3)</PresentationFormat>
  <Paragraphs>151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Síť</vt:lpstr>
      <vt:lpstr>Systém povinné péče  o bezpečnost elektrických zařízení</vt:lpstr>
      <vt:lpstr>Základy bezpečnosti v elektrotechnice Související právní předpisy</vt:lpstr>
      <vt:lpstr>Základní technické normy pro oblast bezpečnosti v elektrotechnice https://www.agentura-cas.cz/</vt:lpstr>
      <vt:lpstr>Používání elektrických zařízení z hlediska bezpečnostních rizik. Řízení rizik modelem švýcarského sýra (Dante Orlandell a James T. Reason).</vt:lpstr>
      <vt:lpstr>Obsluha a práce na elektrických zařízeních - vliv lidského faktoru na bezpečnost – odborná způsobilost  Nařízení vlády č. 194/2022 Sb., o požadavcích na odbornou způsobilost k výkonu činnosti na elektrických zařízeních a na odbornou způsobilost v elektrotechnice</vt:lpstr>
      <vt:lpstr>Druhy sítí - TN, TT, IT</vt:lpstr>
      <vt:lpstr>Typy napájecích sítí: TN-C</vt:lpstr>
      <vt:lpstr>Typy napájecích sítí: TN-S</vt:lpstr>
      <vt:lpstr>Zásuvky střídavého rozvodu podle třídy zařízení</vt:lpstr>
      <vt:lpstr>Vnější vlivy</vt:lpstr>
      <vt:lpstr>Z čeho se musí skládat ochranné opatření před úrazem elektrickým proudem </vt:lpstr>
      <vt:lpstr> Prostředky doplňkové ochrany</vt:lpstr>
      <vt:lpstr>Třída ochrany I Automatické odpojení od zdroje</vt:lpstr>
      <vt:lpstr>Třída ochrany II Dvojitá nebo zesílená izolace</vt:lpstr>
      <vt:lpstr>Třída ochrany III Obvody s označením SELV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Systém povinné péče  o bezpečnost elektrických zařízení</dc:title>
  <dc:creator>Eva Müllerová</dc:creator>
  <cp:lastModifiedBy>Eva Müllerová</cp:lastModifiedBy>
  <cp:revision>106</cp:revision>
  <dcterms:created xsi:type="dcterms:W3CDTF">2020-09-10T07:08:43Z</dcterms:created>
  <dcterms:modified xsi:type="dcterms:W3CDTF">2025-09-19T10:24:14Z</dcterms:modified>
</cp:coreProperties>
</file>